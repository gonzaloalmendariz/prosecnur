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74" autoAdjust="0"/>
    <p:restoredTop sz="94690"/>
  </p:normalViewPr>
  <p:slideViewPr>
    <p:cSldViewPr snapToGrid="0">
      <p:cViewPr varScale="1">
        <p:scale>
          <a:sx n="151" d="100"/>
          <a:sy n="151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26/03/26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26/03/26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25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ES" dirty="0"/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696744" y="6063986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02060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02060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02060"/>
                </a:buClr>
                <a:buSzPts val="1800"/>
              </a:pPr>
              <a:t>26/03/26</a:t>
            </a:fld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1856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4400"/>
              <a:buFont typeface="Arial"/>
              <a:buNone/>
              <a:defRPr sz="40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a16:creationId xmlns:a16="http://schemas.microsoft.com/office/drawing/2014/main"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a16:creationId xmlns:a16="http://schemas.microsoft.com/office/drawing/2014/main"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11438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78395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77815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14222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E" dirty="0"/>
          </a:p>
        </p:txBody>
      </p:sp>
      <p:pic>
        <p:nvPicPr>
          <p:cNvPr id="6" name="Google Shape;66;p47">
            <a:extLst>
              <a:ext uri="{FF2B5EF4-FFF2-40B4-BE49-F238E27FC236}">
                <a16:creationId xmlns:a16="http://schemas.microsoft.com/office/drawing/2014/main"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1221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88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Índice" preserve="1" userDrawn="1">
  <p:cSld name="Index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6D95D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a16:creationId xmlns:a16="http://schemas.microsoft.com/office/drawing/2014/main"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F09F3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a16:creationId xmlns:a16="http://schemas.microsoft.com/office/drawing/2014/main"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987D9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F5D14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a16:creationId xmlns:a16="http://schemas.microsoft.com/office/drawing/2014/main"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a16:creationId xmlns:a16="http://schemas.microsoft.com/office/drawing/2014/main"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a16:creationId xmlns:a16="http://schemas.microsoft.com/office/drawing/2014/main"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a16:creationId xmlns:a16="http://schemas.microsoft.com/office/drawing/2014/main"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a16:creationId xmlns:a16="http://schemas.microsoft.com/office/drawing/2014/main"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a16:creationId xmlns:a16="http://schemas.microsoft.com/office/drawing/2014/main"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a16:creationId xmlns:a16="http://schemas.microsoft.com/office/drawing/2014/main"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a16:creationId xmlns:a16="http://schemas.microsoft.com/office/drawing/2014/main"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a16:creationId xmlns:a16="http://schemas.microsoft.com/office/drawing/2014/main"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2060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0206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a16:creationId xmlns:a16="http://schemas.microsoft.com/office/drawing/2014/main"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a16:creationId xmlns:a16="http://schemas.microsoft.com/office/drawing/2014/main"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74BD80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a16:creationId xmlns:a16="http://schemas.microsoft.com/office/drawing/2014/main"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DA4C4C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64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/>
            </a:lvl1pPr>
          </a:lstStyle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26/03/26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a16:creationId xmlns:a16="http://schemas.microsoft.com/office/drawing/2014/main"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a16:creationId xmlns:a16="http://schemas.microsoft.com/office/drawing/2014/main"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a16:creationId xmlns:a16="http://schemas.microsoft.com/office/drawing/2014/main"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a16:creationId xmlns:a16="http://schemas.microsoft.com/office/drawing/2014/main"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a16:creationId xmlns:a16="http://schemas.microsoft.com/office/drawing/2014/main"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a16:creationId xmlns:a16="http://schemas.microsoft.com/office/drawing/2014/main"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02060"/>
                </a:solidFill>
              </a:defRPr>
            </a:lvl1pPr>
            <a:lvl2pPr algn="just">
              <a:defRPr sz="2000" b="0">
                <a:solidFill>
                  <a:srgbClr val="002060"/>
                </a:solidFill>
              </a:defRPr>
            </a:lvl2pPr>
            <a:lvl3pPr algn="just">
              <a:defRPr sz="2000" b="0">
                <a:solidFill>
                  <a:srgbClr val="002060"/>
                </a:solidFill>
              </a:defRPr>
            </a:lvl3pPr>
            <a:lvl4pPr algn="just">
              <a:defRPr sz="2000" b="0">
                <a:solidFill>
                  <a:srgbClr val="002060"/>
                </a:solidFill>
              </a:defRPr>
            </a:lvl4pPr>
            <a:lvl5pPr algn="just"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6334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3000">
                <a:solidFill>
                  <a:srgbClr val="66666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540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a16:creationId xmlns:a16="http://schemas.microsoft.com/office/drawing/2014/main"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321386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sp>
        <p:nvSpPr>
          <p:cNvPr id="2" name="Place holder 1">
            <a:extLst>
              <a:ext uri="{FF2B5EF4-FFF2-40B4-BE49-F238E27FC236}">
                <a16:creationId xmlns:a16="http://schemas.microsoft.com/office/drawing/2014/main"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60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842669" y="2193692"/>
            <a:ext cx="2506662" cy="2506662"/>
          </a:xfrm>
          <a:prstGeom prst="rect">
            <a:avLst/>
          </a:prstGeom>
        </p:spPr>
      </p:pic>
      <p:sp>
        <p:nvSpPr>
          <p:cNvPr id="5" name="Place holder 2">
            <a:extLst>
              <a:ext uri="{FF2B5EF4-FFF2-40B4-BE49-F238E27FC236}">
                <a16:creationId xmlns:a16="http://schemas.microsoft.com/office/drawing/2014/main"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53872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5916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65143" y="2714849"/>
            <a:ext cx="2061714" cy="20617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3" y="1212850"/>
            <a:ext cx="4502742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503240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6796" y="1221582"/>
            <a:ext cx="4503241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6796" y="3754437"/>
            <a:ext cx="4503242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1490820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65143" y="2714849"/>
            <a:ext cx="2061714" cy="20617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336568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65143" y="2714849"/>
            <a:ext cx="2061714" cy="20617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4015789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8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6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2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200" b="0" i="1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36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18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DA4C4C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26/03/26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19" r:id="rId7"/>
    <p:sldLayoutId id="2147483720" r:id="rId8"/>
    <p:sldLayoutId id="2147483724" r:id="rId9"/>
    <p:sldLayoutId id="2147483723" r:id="rId10"/>
    <p:sldLayoutId id="2147483694" r:id="rId11"/>
    <p:sldLayoutId id="2147483692" r:id="rId12"/>
    <p:sldLayoutId id="2147483712" r:id="rId13"/>
    <p:sldLayoutId id="2147483693" r:id="rId14"/>
    <p:sldLayoutId id="2147483702" r:id="rId15"/>
    <p:sldLayoutId id="2147483682" r:id="rId16"/>
    <p:sldLayoutId id="2147483718" r:id="rId17"/>
    <p:sldLayoutId id="2147483721" r:id="rId18"/>
    <p:sldLayoutId id="2147483722" r:id="rId19"/>
    <p:sldLayoutId id="2147483688" r:id="rId20"/>
    <p:sldLayoutId id="2147483703" r:id="rId2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DA4C4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1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5"/>
          <p:cNvSpPr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</p:spPr>
        <p:txBody>
          <a:bodyPr/>
          <a:lstStyle/>
          <a:p>
            <a:r>
              <a:rPr dirty="0"/>
              <a:t>Manual de </a:t>
            </a:r>
            <a:r>
              <a:rPr dirty="0" err="1"/>
              <a:t>Codificación</a:t>
            </a:r>
            <a:r>
              <a:rPr lang="en-US" dirty="0"/>
              <a:t> de </a:t>
            </a:r>
            <a:r>
              <a:rPr lang="en-US" dirty="0" err="1"/>
              <a:t>Preguntas</a:t>
            </a:r>
            <a:r>
              <a:rPr lang="en-US" dirty="0"/>
              <a:t> </a:t>
            </a:r>
            <a:r>
              <a:rPr lang="en-US" dirty="0" err="1"/>
              <a:t>Abiertas</a:t>
            </a:r>
            <a:endParaRPr dirty="0"/>
          </a:p>
        </p:txBody>
      </p:sp>
      <p:sp>
        <p:nvSpPr>
          <p:cNvPr id="3" name="Google Shape;17;p45"/>
          <p:cNvSpPr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</p:spPr>
        <p:txBody>
          <a:bodyPr/>
          <a:lstStyle/>
          <a:p>
            <a:r>
              <a:rPr lang="en-US" dirty="0"/>
              <a:t>Gonzalo Almendariz</a:t>
            </a:r>
            <a:endParaRPr dirty="0"/>
          </a:p>
        </p:txBody>
      </p:sp>
      <p:sp>
        <p:nvSpPr>
          <p:cNvPr id="4" name="Marcador de fecha 7"/>
          <p:cNvSpPr>
            <a:spLocks noGrp="1"/>
          </p:cNvSpPr>
          <p:nvPr>
            <p:ph type="dt" idx="11"/>
          </p:nvPr>
        </p:nvSpPr>
        <p:spPr>
          <a:xfrm>
            <a:off x="4696744" y="6063986"/>
            <a:ext cx="2795705" cy="365125"/>
          </a:xfrm>
        </p:spPr>
        <p:txBody>
          <a:bodyPr/>
          <a:lstStyle/>
          <a:p>
            <a:r>
              <a:rPr dirty="0"/>
              <a:t>Mar</a:t>
            </a:r>
            <a:r>
              <a:rPr lang="es-PE" dirty="0"/>
              <a:t>zo</a:t>
            </a:r>
            <a:r>
              <a:rPr dirty="0"/>
              <a:t>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rPr dirty="0" err="1"/>
              <a:t>Contenido</a:t>
            </a:r>
            <a:r>
              <a:rPr dirty="0"/>
              <a:t> del manual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Flujo general de codificación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60875" y="1162878"/>
            <a:ext cx="8294658" cy="5068958"/>
            <a:chOff x="1860875" y="1162878"/>
            <a:chExt cx="8294658" cy="5068958"/>
          </a:xfrm>
        </p:grpSpPr>
        <p:sp>
          <p:nvSpPr>
            <p:cNvPr id="4" name="rc3"/>
            <p:cNvSpPr/>
            <p:nvPr/>
          </p:nvSpPr>
          <p:spPr>
            <a:xfrm>
              <a:off x="1860875" y="1162878"/>
              <a:ext cx="8294658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87400" y="1289403"/>
              <a:ext cx="8041607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2352928" y="1669606"/>
              <a:ext cx="1827638" cy="414767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6"/>
            <p:cNvSpPr/>
            <p:nvPr/>
          </p:nvSpPr>
          <p:spPr>
            <a:xfrm>
              <a:off x="2823387" y="1768392"/>
              <a:ext cx="886719" cy="876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1. FAMILIAS.xlsx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2813733" y="1873005"/>
              <a:ext cx="906028" cy="107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(Definir variables)</a:t>
              </a:r>
            </a:p>
          </p:txBody>
        </p:sp>
        <p:sp>
          <p:nvSpPr>
            <p:cNvPr id="9" name="rc8"/>
            <p:cNvSpPr/>
            <p:nvPr/>
          </p:nvSpPr>
          <p:spPr>
            <a:xfrm>
              <a:off x="4789779" y="1669606"/>
              <a:ext cx="1827638" cy="414767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x9"/>
            <p:cNvSpPr/>
            <p:nvPr/>
          </p:nvSpPr>
          <p:spPr>
            <a:xfrm>
              <a:off x="5459432" y="1768392"/>
              <a:ext cx="488330" cy="876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XLSForm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5359807" y="1873005"/>
              <a:ext cx="687581" cy="107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(Instrumento)</a:t>
              </a:r>
            </a:p>
          </p:txBody>
        </p:sp>
        <p:sp>
          <p:nvSpPr>
            <p:cNvPr id="12" name="rc11"/>
            <p:cNvSpPr/>
            <p:nvPr/>
          </p:nvSpPr>
          <p:spPr>
            <a:xfrm>
              <a:off x="7226629" y="1669606"/>
              <a:ext cx="1827638" cy="414767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x12"/>
            <p:cNvSpPr/>
            <p:nvPr/>
          </p:nvSpPr>
          <p:spPr>
            <a:xfrm>
              <a:off x="7799820" y="1770481"/>
              <a:ext cx="681257" cy="855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Datos crudos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835334" y="1873005"/>
              <a:ext cx="610229" cy="107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(.xlsx / .csv)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3266747" y="2084373"/>
              <a:ext cx="0" cy="460852"/>
            </a:xfrm>
            <a:custGeom>
              <a:avLst/>
              <a:gdLst/>
              <a:ahLst/>
              <a:cxnLst/>
              <a:rect l="0" t="0" r="0" b="0"/>
              <a:pathLst>
                <a:path h="460852">
                  <a:moveTo>
                    <a:pt x="0" y="0"/>
                  </a:moveTo>
                  <a:lnTo>
                    <a:pt x="0" y="46085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3239747" y="2498460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5703598" y="2084373"/>
              <a:ext cx="0" cy="460852"/>
            </a:xfrm>
            <a:custGeom>
              <a:avLst/>
              <a:gdLst/>
              <a:ahLst/>
              <a:cxnLst/>
              <a:rect l="0" t="0" r="0" b="0"/>
              <a:pathLst>
                <a:path h="460852">
                  <a:moveTo>
                    <a:pt x="0" y="0"/>
                  </a:moveTo>
                  <a:lnTo>
                    <a:pt x="0" y="46085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5676598" y="2498460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8140448" y="2084373"/>
              <a:ext cx="0" cy="460852"/>
            </a:xfrm>
            <a:custGeom>
              <a:avLst/>
              <a:gdLst/>
              <a:ahLst/>
              <a:cxnLst/>
              <a:rect l="0" t="0" r="0" b="0"/>
              <a:pathLst>
                <a:path h="460852">
                  <a:moveTo>
                    <a:pt x="0" y="0"/>
                  </a:moveTo>
                  <a:lnTo>
                    <a:pt x="0" y="46085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8113448" y="2498460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3266747" y="2568268"/>
              <a:ext cx="4873701" cy="0"/>
            </a:xfrm>
            <a:custGeom>
              <a:avLst/>
              <a:gdLst/>
              <a:ahLst/>
              <a:cxnLst/>
              <a:rect l="0" t="0" r="0" b="0"/>
              <a:pathLst>
                <a:path w="4873701">
                  <a:moveTo>
                    <a:pt x="0" y="0"/>
                  </a:moveTo>
                  <a:lnTo>
                    <a:pt x="4873701" y="0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5703598" y="2568268"/>
              <a:ext cx="0" cy="437809"/>
            </a:xfrm>
            <a:custGeom>
              <a:avLst/>
              <a:gdLst/>
              <a:ahLst/>
              <a:cxnLst/>
              <a:rect l="0" t="0" r="0" b="0"/>
              <a:pathLst>
                <a:path h="437809">
                  <a:moveTo>
                    <a:pt x="0" y="0"/>
                  </a:moveTo>
                  <a:lnTo>
                    <a:pt x="0" y="437809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2"/>
            <p:cNvSpPr/>
            <p:nvPr/>
          </p:nvSpPr>
          <p:spPr>
            <a:xfrm>
              <a:off x="5676598" y="295931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3"/>
            <p:cNvSpPr/>
            <p:nvPr/>
          </p:nvSpPr>
          <p:spPr>
            <a:xfrm>
              <a:off x="4180566" y="3006078"/>
              <a:ext cx="3046063" cy="414767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x24"/>
            <p:cNvSpPr/>
            <p:nvPr/>
          </p:nvSpPr>
          <p:spPr>
            <a:xfrm>
              <a:off x="4746133" y="3083041"/>
              <a:ext cx="1914929" cy="1095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2. Generar plantilla de codificacion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654582" y="3209561"/>
              <a:ext cx="2098031" cy="107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construir_plantilla + exportar_plantilla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5703598" y="3420845"/>
              <a:ext cx="0" cy="368681"/>
            </a:xfrm>
            <a:custGeom>
              <a:avLst/>
              <a:gdLst/>
              <a:ahLst/>
              <a:cxnLst/>
              <a:rect l="0" t="0" r="0" b="0"/>
              <a:pathLst>
                <a:path h="368681">
                  <a:moveTo>
                    <a:pt x="0" y="0"/>
                  </a:moveTo>
                  <a:lnTo>
                    <a:pt x="0" y="36868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7"/>
            <p:cNvSpPr/>
            <p:nvPr/>
          </p:nvSpPr>
          <p:spPr>
            <a:xfrm>
              <a:off x="5676598" y="3742762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8"/>
            <p:cNvSpPr/>
            <p:nvPr/>
          </p:nvSpPr>
          <p:spPr>
            <a:xfrm>
              <a:off x="4180566" y="3789527"/>
              <a:ext cx="3046063" cy="414767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29"/>
            <p:cNvSpPr/>
            <p:nvPr/>
          </p:nvSpPr>
          <p:spPr>
            <a:xfrm>
              <a:off x="4871505" y="3867055"/>
              <a:ext cx="1664186" cy="10902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3. Codificador llena la plantilla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967883" y="3990921"/>
              <a:ext cx="1471428" cy="1100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(Solo Excel, no requiere R)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3784352" y="3893234"/>
              <a:ext cx="183215" cy="2073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22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👤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5703598" y="4204294"/>
              <a:ext cx="0" cy="368681"/>
            </a:xfrm>
            <a:custGeom>
              <a:avLst/>
              <a:gdLst/>
              <a:ahLst/>
              <a:cxnLst/>
              <a:rect l="0" t="0" r="0" b="0"/>
              <a:pathLst>
                <a:path h="368681">
                  <a:moveTo>
                    <a:pt x="0" y="0"/>
                  </a:moveTo>
                  <a:lnTo>
                    <a:pt x="0" y="36868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3"/>
            <p:cNvSpPr/>
            <p:nvPr/>
          </p:nvSpPr>
          <p:spPr>
            <a:xfrm>
              <a:off x="5676598" y="4526211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4"/>
            <p:cNvSpPr/>
            <p:nvPr/>
          </p:nvSpPr>
          <p:spPr>
            <a:xfrm>
              <a:off x="3571353" y="4572976"/>
              <a:ext cx="2436850" cy="414767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x35"/>
            <p:cNvSpPr/>
            <p:nvPr/>
          </p:nvSpPr>
          <p:spPr>
            <a:xfrm>
              <a:off x="4198350" y="4650984"/>
              <a:ext cx="1182856" cy="1084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4. ppra_adaptar_data()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089183" y="4776036"/>
              <a:ext cx="1401191" cy="1082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Aplicar codificacion a datos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6465114" y="4572976"/>
              <a:ext cx="2132244" cy="414767"/>
            </a:xfrm>
            <a:prstGeom prst="rect">
              <a:avLst/>
            </a:prstGeom>
            <a:solidFill>
              <a:srgbClr val="E6D9F2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x38"/>
            <p:cNvSpPr/>
            <p:nvPr/>
          </p:nvSpPr>
          <p:spPr>
            <a:xfrm>
              <a:off x="6750268" y="4650984"/>
              <a:ext cx="1561935" cy="1084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5. ppra_adaptar_instrumento()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7017159" y="4796644"/>
              <a:ext cx="1028153" cy="876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Actualizar XLSForm</a:t>
              </a:r>
            </a:p>
          </p:txBody>
        </p:sp>
        <p:sp>
          <p:nvSpPr>
            <p:cNvPr id="43" name="pl42"/>
            <p:cNvSpPr/>
            <p:nvPr/>
          </p:nvSpPr>
          <p:spPr>
            <a:xfrm>
              <a:off x="4789779" y="4987743"/>
              <a:ext cx="0" cy="368681"/>
            </a:xfrm>
            <a:custGeom>
              <a:avLst/>
              <a:gdLst/>
              <a:ahLst/>
              <a:cxnLst/>
              <a:rect l="0" t="0" r="0" b="0"/>
              <a:pathLst>
                <a:path h="368681">
                  <a:moveTo>
                    <a:pt x="0" y="0"/>
                  </a:moveTo>
                  <a:lnTo>
                    <a:pt x="0" y="36868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g43"/>
            <p:cNvSpPr/>
            <p:nvPr/>
          </p:nvSpPr>
          <p:spPr>
            <a:xfrm>
              <a:off x="4762779" y="5309660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7531236" y="4987743"/>
              <a:ext cx="0" cy="368681"/>
            </a:xfrm>
            <a:custGeom>
              <a:avLst/>
              <a:gdLst/>
              <a:ahLst/>
              <a:cxnLst/>
              <a:rect l="0" t="0" r="0" b="0"/>
              <a:pathLst>
                <a:path h="368681">
                  <a:moveTo>
                    <a:pt x="0" y="0"/>
                  </a:moveTo>
                  <a:lnTo>
                    <a:pt x="0" y="36868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g45"/>
            <p:cNvSpPr/>
            <p:nvPr/>
          </p:nvSpPr>
          <p:spPr>
            <a:xfrm>
              <a:off x="7504236" y="5309660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6"/>
            <p:cNvSpPr/>
            <p:nvPr/>
          </p:nvSpPr>
          <p:spPr>
            <a:xfrm>
              <a:off x="3723656" y="5356425"/>
              <a:ext cx="2132244" cy="414767"/>
            </a:xfrm>
            <a:prstGeom prst="rect">
              <a:avLst/>
            </a:prstGeom>
            <a:solidFill>
              <a:srgbClr val="E2EFDA">
                <a:alpha val="100000"/>
              </a:srgbClr>
            </a:solidFill>
            <a:ln w="21681" cap="flat">
              <a:solidFill>
                <a:srgbClr val="548235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x47"/>
            <p:cNvSpPr/>
            <p:nvPr/>
          </p:nvSpPr>
          <p:spPr>
            <a:xfrm>
              <a:off x="4282025" y="5456396"/>
              <a:ext cx="1015506" cy="864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Datos recodificados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311018" y="5559823"/>
              <a:ext cx="957521" cy="107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(.xlsx con *_recod)</a:t>
              </a:r>
            </a:p>
          </p:txBody>
        </p:sp>
        <p:sp>
          <p:nvSpPr>
            <p:cNvPr id="50" name="rc49"/>
            <p:cNvSpPr/>
            <p:nvPr/>
          </p:nvSpPr>
          <p:spPr>
            <a:xfrm>
              <a:off x="6465114" y="5356425"/>
              <a:ext cx="2132244" cy="414767"/>
            </a:xfrm>
            <a:prstGeom prst="rect">
              <a:avLst/>
            </a:prstGeom>
            <a:solidFill>
              <a:srgbClr val="E2EFDA">
                <a:alpha val="100000"/>
              </a:srgbClr>
            </a:solidFill>
            <a:ln w="21681" cap="flat">
              <a:solidFill>
                <a:srgbClr val="548235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6968744" y="5435506"/>
              <a:ext cx="1124984" cy="107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Instrumento adaptado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7023483" y="5557847"/>
              <a:ext cx="1015506" cy="109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(nuevas categorias)</a:t>
              </a:r>
            </a:p>
          </p:txBody>
        </p:sp>
        <p:sp>
          <p:nvSpPr>
            <p:cNvPr id="53" name="pg52"/>
            <p:cNvSpPr/>
            <p:nvPr/>
          </p:nvSpPr>
          <p:spPr>
            <a:xfrm>
              <a:off x="8978953" y="3146821"/>
              <a:ext cx="516156" cy="133280"/>
            </a:xfrm>
            <a:custGeom>
              <a:avLst/>
              <a:gdLst/>
              <a:ahLst/>
              <a:cxnLst/>
              <a:rect l="0" t="0" r="0" b="0"/>
              <a:pathLst>
                <a:path w="516156" h="133280">
                  <a:moveTo>
                    <a:pt x="18212" y="133280"/>
                  </a:moveTo>
                  <a:lnTo>
                    <a:pt x="497943" y="133280"/>
                  </a:lnTo>
                  <a:lnTo>
                    <a:pt x="497210" y="133265"/>
                  </a:lnTo>
                  <a:lnTo>
                    <a:pt x="500139" y="133147"/>
                  </a:lnTo>
                  <a:lnTo>
                    <a:pt x="503010" y="132561"/>
                  </a:lnTo>
                  <a:lnTo>
                    <a:pt x="505751" y="131521"/>
                  </a:lnTo>
                  <a:lnTo>
                    <a:pt x="508289" y="130056"/>
                  </a:lnTo>
                  <a:lnTo>
                    <a:pt x="510559" y="128202"/>
                  </a:lnTo>
                  <a:lnTo>
                    <a:pt x="512503" y="126008"/>
                  </a:lnTo>
                  <a:lnTo>
                    <a:pt x="514069" y="123531"/>
                  </a:lnTo>
                  <a:lnTo>
                    <a:pt x="515218" y="120835"/>
                  </a:lnTo>
                  <a:lnTo>
                    <a:pt x="515920" y="117989"/>
                  </a:lnTo>
                  <a:lnTo>
                    <a:pt x="516156" y="115068"/>
                  </a:lnTo>
                  <a:lnTo>
                    <a:pt x="516156" y="18212"/>
                  </a:lnTo>
                  <a:lnTo>
                    <a:pt x="515920" y="15290"/>
                  </a:lnTo>
                  <a:lnTo>
                    <a:pt x="515218" y="12444"/>
                  </a:lnTo>
                  <a:lnTo>
                    <a:pt x="514069" y="9748"/>
                  </a:lnTo>
                  <a:lnTo>
                    <a:pt x="512503" y="7271"/>
                  </a:lnTo>
                  <a:lnTo>
                    <a:pt x="510559" y="5077"/>
                  </a:lnTo>
                  <a:lnTo>
                    <a:pt x="508289" y="3223"/>
                  </a:lnTo>
                  <a:lnTo>
                    <a:pt x="505751" y="1758"/>
                  </a:lnTo>
                  <a:lnTo>
                    <a:pt x="503010" y="719"/>
                  </a:lnTo>
                  <a:lnTo>
                    <a:pt x="500139" y="132"/>
                  </a:lnTo>
                  <a:lnTo>
                    <a:pt x="497943" y="0"/>
                  </a:lnTo>
                  <a:lnTo>
                    <a:pt x="18212" y="0"/>
                  </a:lnTo>
                  <a:lnTo>
                    <a:pt x="20407" y="132"/>
                  </a:lnTo>
                  <a:lnTo>
                    <a:pt x="17478" y="14"/>
                  </a:lnTo>
                  <a:lnTo>
                    <a:pt x="14569" y="368"/>
                  </a:lnTo>
                  <a:lnTo>
                    <a:pt x="11753" y="1183"/>
                  </a:lnTo>
                  <a:lnTo>
                    <a:pt x="9106" y="2439"/>
                  </a:lnTo>
                  <a:lnTo>
                    <a:pt x="6693" y="4104"/>
                  </a:lnTo>
                  <a:lnTo>
                    <a:pt x="4580" y="6135"/>
                  </a:lnTo>
                  <a:lnTo>
                    <a:pt x="2819" y="8478"/>
                  </a:lnTo>
                  <a:lnTo>
                    <a:pt x="1457" y="11073"/>
                  </a:lnTo>
                  <a:lnTo>
                    <a:pt x="529" y="13853"/>
                  </a:lnTo>
                  <a:lnTo>
                    <a:pt x="59" y="16746"/>
                  </a:lnTo>
                  <a:lnTo>
                    <a:pt x="0" y="18212"/>
                  </a:lnTo>
                  <a:lnTo>
                    <a:pt x="0" y="115068"/>
                  </a:lnTo>
                  <a:lnTo>
                    <a:pt x="59" y="113602"/>
                  </a:lnTo>
                  <a:lnTo>
                    <a:pt x="59" y="116533"/>
                  </a:lnTo>
                  <a:lnTo>
                    <a:pt x="529" y="119426"/>
                  </a:lnTo>
                  <a:lnTo>
                    <a:pt x="1457" y="122206"/>
                  </a:lnTo>
                  <a:lnTo>
                    <a:pt x="2819" y="124801"/>
                  </a:lnTo>
                  <a:lnTo>
                    <a:pt x="4580" y="127145"/>
                  </a:lnTo>
                  <a:lnTo>
                    <a:pt x="6693" y="129175"/>
                  </a:lnTo>
                  <a:lnTo>
                    <a:pt x="9106" y="130840"/>
                  </a:lnTo>
                  <a:lnTo>
                    <a:pt x="11753" y="132096"/>
                  </a:lnTo>
                  <a:lnTo>
                    <a:pt x="14569" y="132912"/>
                  </a:lnTo>
                  <a:lnTo>
                    <a:pt x="17478" y="133265"/>
                  </a:lnTo>
                  <a:close/>
                </a:path>
              </a:pathLst>
            </a:custGeom>
            <a:solidFill>
              <a:srgbClr val="FFF2CC">
                <a:alpha val="100000"/>
              </a:srgbClr>
            </a:solidFill>
            <a:ln w="6775" cap="rnd">
              <a:solidFill>
                <a:srgbClr val="BF8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53"/>
            <p:cNvSpPr/>
            <p:nvPr/>
          </p:nvSpPr>
          <p:spPr>
            <a:xfrm>
              <a:off x="9009307" y="3175247"/>
              <a:ext cx="455449" cy="1048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i="1" dirty="0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R</a:t>
              </a:r>
            </a:p>
          </p:txBody>
        </p:sp>
        <p:sp>
          <p:nvSpPr>
            <p:cNvPr id="55" name="pg54"/>
            <p:cNvSpPr/>
            <p:nvPr/>
          </p:nvSpPr>
          <p:spPr>
            <a:xfrm>
              <a:off x="8950793" y="3930270"/>
              <a:ext cx="572475" cy="133280"/>
            </a:xfrm>
            <a:custGeom>
              <a:avLst/>
              <a:gdLst/>
              <a:ahLst/>
              <a:cxnLst/>
              <a:rect l="0" t="0" r="0" b="0"/>
              <a:pathLst>
                <a:path w="572475" h="133280">
                  <a:moveTo>
                    <a:pt x="18212" y="133280"/>
                  </a:moveTo>
                  <a:lnTo>
                    <a:pt x="554263" y="133280"/>
                  </a:lnTo>
                  <a:lnTo>
                    <a:pt x="553530" y="133265"/>
                  </a:lnTo>
                  <a:lnTo>
                    <a:pt x="556458" y="133147"/>
                  </a:lnTo>
                  <a:lnTo>
                    <a:pt x="559330" y="132561"/>
                  </a:lnTo>
                  <a:lnTo>
                    <a:pt x="562071" y="131521"/>
                  </a:lnTo>
                  <a:lnTo>
                    <a:pt x="564609" y="130056"/>
                  </a:lnTo>
                  <a:lnTo>
                    <a:pt x="566879" y="128202"/>
                  </a:lnTo>
                  <a:lnTo>
                    <a:pt x="568823" y="126008"/>
                  </a:lnTo>
                  <a:lnTo>
                    <a:pt x="570389" y="123531"/>
                  </a:lnTo>
                  <a:lnTo>
                    <a:pt x="571538" y="120835"/>
                  </a:lnTo>
                  <a:lnTo>
                    <a:pt x="572239" y="117989"/>
                  </a:lnTo>
                  <a:lnTo>
                    <a:pt x="572475" y="115068"/>
                  </a:lnTo>
                  <a:lnTo>
                    <a:pt x="572475" y="18212"/>
                  </a:lnTo>
                  <a:lnTo>
                    <a:pt x="572239" y="15290"/>
                  </a:lnTo>
                  <a:lnTo>
                    <a:pt x="571538" y="12444"/>
                  </a:lnTo>
                  <a:lnTo>
                    <a:pt x="570389" y="9748"/>
                  </a:lnTo>
                  <a:lnTo>
                    <a:pt x="568823" y="7271"/>
                  </a:lnTo>
                  <a:lnTo>
                    <a:pt x="566879" y="5077"/>
                  </a:lnTo>
                  <a:lnTo>
                    <a:pt x="564609" y="3223"/>
                  </a:lnTo>
                  <a:lnTo>
                    <a:pt x="562071" y="1758"/>
                  </a:lnTo>
                  <a:lnTo>
                    <a:pt x="559330" y="719"/>
                  </a:lnTo>
                  <a:lnTo>
                    <a:pt x="556458" y="132"/>
                  </a:lnTo>
                  <a:lnTo>
                    <a:pt x="554263" y="0"/>
                  </a:lnTo>
                  <a:lnTo>
                    <a:pt x="18212" y="0"/>
                  </a:lnTo>
                  <a:lnTo>
                    <a:pt x="20407" y="132"/>
                  </a:lnTo>
                  <a:lnTo>
                    <a:pt x="17478" y="14"/>
                  </a:lnTo>
                  <a:lnTo>
                    <a:pt x="14569" y="368"/>
                  </a:lnTo>
                  <a:lnTo>
                    <a:pt x="11753" y="1183"/>
                  </a:lnTo>
                  <a:lnTo>
                    <a:pt x="9106" y="2439"/>
                  </a:lnTo>
                  <a:lnTo>
                    <a:pt x="6693" y="4104"/>
                  </a:lnTo>
                  <a:lnTo>
                    <a:pt x="4580" y="6135"/>
                  </a:lnTo>
                  <a:lnTo>
                    <a:pt x="2819" y="8478"/>
                  </a:lnTo>
                  <a:lnTo>
                    <a:pt x="1457" y="11073"/>
                  </a:lnTo>
                  <a:lnTo>
                    <a:pt x="529" y="13853"/>
                  </a:lnTo>
                  <a:lnTo>
                    <a:pt x="59" y="16746"/>
                  </a:lnTo>
                  <a:lnTo>
                    <a:pt x="0" y="18212"/>
                  </a:lnTo>
                  <a:lnTo>
                    <a:pt x="0" y="115068"/>
                  </a:lnTo>
                  <a:lnTo>
                    <a:pt x="59" y="113602"/>
                  </a:lnTo>
                  <a:lnTo>
                    <a:pt x="59" y="116533"/>
                  </a:lnTo>
                  <a:lnTo>
                    <a:pt x="529" y="119426"/>
                  </a:lnTo>
                  <a:lnTo>
                    <a:pt x="1457" y="122206"/>
                  </a:lnTo>
                  <a:lnTo>
                    <a:pt x="2819" y="124801"/>
                  </a:lnTo>
                  <a:lnTo>
                    <a:pt x="4580" y="127145"/>
                  </a:lnTo>
                  <a:lnTo>
                    <a:pt x="6693" y="129175"/>
                  </a:lnTo>
                  <a:lnTo>
                    <a:pt x="9106" y="130840"/>
                  </a:lnTo>
                  <a:lnTo>
                    <a:pt x="11753" y="132096"/>
                  </a:lnTo>
                  <a:lnTo>
                    <a:pt x="14569" y="132912"/>
                  </a:lnTo>
                  <a:lnTo>
                    <a:pt x="17478" y="133265"/>
                  </a:lnTo>
                  <a:close/>
                </a:path>
              </a:pathLst>
            </a:custGeom>
            <a:solidFill>
              <a:srgbClr val="DFF5DF">
                <a:alpha val="100000"/>
              </a:srgbClr>
            </a:solidFill>
            <a:ln w="6775" cap="rnd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x55"/>
            <p:cNvSpPr/>
            <p:nvPr/>
          </p:nvSpPr>
          <p:spPr>
            <a:xfrm>
              <a:off x="8981147" y="3956721"/>
              <a:ext cx="511768" cy="764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i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Codificador</a:t>
              </a:r>
            </a:p>
          </p:txBody>
        </p:sp>
        <p:sp>
          <p:nvSpPr>
            <p:cNvPr id="57" name="pg56"/>
            <p:cNvSpPr/>
            <p:nvPr/>
          </p:nvSpPr>
          <p:spPr>
            <a:xfrm>
              <a:off x="8978953" y="4713719"/>
              <a:ext cx="516156" cy="133280"/>
            </a:xfrm>
            <a:custGeom>
              <a:avLst/>
              <a:gdLst/>
              <a:ahLst/>
              <a:cxnLst/>
              <a:rect l="0" t="0" r="0" b="0"/>
              <a:pathLst>
                <a:path w="516156" h="133280">
                  <a:moveTo>
                    <a:pt x="18212" y="133280"/>
                  </a:moveTo>
                  <a:lnTo>
                    <a:pt x="497943" y="133280"/>
                  </a:lnTo>
                  <a:lnTo>
                    <a:pt x="497210" y="133265"/>
                  </a:lnTo>
                  <a:lnTo>
                    <a:pt x="500139" y="133147"/>
                  </a:lnTo>
                  <a:lnTo>
                    <a:pt x="503010" y="132561"/>
                  </a:lnTo>
                  <a:lnTo>
                    <a:pt x="505751" y="131521"/>
                  </a:lnTo>
                  <a:lnTo>
                    <a:pt x="508289" y="130056"/>
                  </a:lnTo>
                  <a:lnTo>
                    <a:pt x="510559" y="128202"/>
                  </a:lnTo>
                  <a:lnTo>
                    <a:pt x="512503" y="126008"/>
                  </a:lnTo>
                  <a:lnTo>
                    <a:pt x="514069" y="123531"/>
                  </a:lnTo>
                  <a:lnTo>
                    <a:pt x="515218" y="120835"/>
                  </a:lnTo>
                  <a:lnTo>
                    <a:pt x="515920" y="117989"/>
                  </a:lnTo>
                  <a:lnTo>
                    <a:pt x="516156" y="115068"/>
                  </a:lnTo>
                  <a:lnTo>
                    <a:pt x="516156" y="18212"/>
                  </a:lnTo>
                  <a:lnTo>
                    <a:pt x="515920" y="15290"/>
                  </a:lnTo>
                  <a:lnTo>
                    <a:pt x="515218" y="12444"/>
                  </a:lnTo>
                  <a:lnTo>
                    <a:pt x="514069" y="9748"/>
                  </a:lnTo>
                  <a:lnTo>
                    <a:pt x="512503" y="7271"/>
                  </a:lnTo>
                  <a:lnTo>
                    <a:pt x="510559" y="5077"/>
                  </a:lnTo>
                  <a:lnTo>
                    <a:pt x="508289" y="3223"/>
                  </a:lnTo>
                  <a:lnTo>
                    <a:pt x="505751" y="1758"/>
                  </a:lnTo>
                  <a:lnTo>
                    <a:pt x="503010" y="719"/>
                  </a:lnTo>
                  <a:lnTo>
                    <a:pt x="500139" y="132"/>
                  </a:lnTo>
                  <a:lnTo>
                    <a:pt x="497943" y="0"/>
                  </a:lnTo>
                  <a:lnTo>
                    <a:pt x="18212" y="0"/>
                  </a:lnTo>
                  <a:lnTo>
                    <a:pt x="20407" y="132"/>
                  </a:lnTo>
                  <a:lnTo>
                    <a:pt x="17478" y="14"/>
                  </a:lnTo>
                  <a:lnTo>
                    <a:pt x="14569" y="368"/>
                  </a:lnTo>
                  <a:lnTo>
                    <a:pt x="11753" y="1183"/>
                  </a:lnTo>
                  <a:lnTo>
                    <a:pt x="9106" y="2439"/>
                  </a:lnTo>
                  <a:lnTo>
                    <a:pt x="6693" y="4104"/>
                  </a:lnTo>
                  <a:lnTo>
                    <a:pt x="4580" y="6135"/>
                  </a:lnTo>
                  <a:lnTo>
                    <a:pt x="2819" y="8478"/>
                  </a:lnTo>
                  <a:lnTo>
                    <a:pt x="1457" y="11073"/>
                  </a:lnTo>
                  <a:lnTo>
                    <a:pt x="529" y="13853"/>
                  </a:lnTo>
                  <a:lnTo>
                    <a:pt x="59" y="16746"/>
                  </a:lnTo>
                  <a:lnTo>
                    <a:pt x="0" y="18212"/>
                  </a:lnTo>
                  <a:lnTo>
                    <a:pt x="0" y="115068"/>
                  </a:lnTo>
                  <a:lnTo>
                    <a:pt x="59" y="113602"/>
                  </a:lnTo>
                  <a:lnTo>
                    <a:pt x="59" y="116533"/>
                  </a:lnTo>
                  <a:lnTo>
                    <a:pt x="529" y="119426"/>
                  </a:lnTo>
                  <a:lnTo>
                    <a:pt x="1457" y="122206"/>
                  </a:lnTo>
                  <a:lnTo>
                    <a:pt x="2819" y="124801"/>
                  </a:lnTo>
                  <a:lnTo>
                    <a:pt x="4580" y="127145"/>
                  </a:lnTo>
                  <a:lnTo>
                    <a:pt x="6693" y="129175"/>
                  </a:lnTo>
                  <a:lnTo>
                    <a:pt x="9106" y="130840"/>
                  </a:lnTo>
                  <a:lnTo>
                    <a:pt x="11753" y="132096"/>
                  </a:lnTo>
                  <a:lnTo>
                    <a:pt x="14569" y="132912"/>
                  </a:lnTo>
                  <a:lnTo>
                    <a:pt x="17478" y="133265"/>
                  </a:lnTo>
                  <a:close/>
                </a:path>
              </a:pathLst>
            </a:custGeom>
            <a:solidFill>
              <a:srgbClr val="FFF2CC">
                <a:alpha val="100000"/>
              </a:srgbClr>
            </a:solidFill>
            <a:ln w="6775" cap="rnd">
              <a:solidFill>
                <a:srgbClr val="BF8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7"/>
            <p:cNvSpPr/>
            <p:nvPr/>
          </p:nvSpPr>
          <p:spPr>
            <a:xfrm>
              <a:off x="9009307" y="4742145"/>
              <a:ext cx="455449" cy="1332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i="1" dirty="0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R</a:t>
              </a:r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055FC2B-D9D0-1231-E5BD-37AEBDF97CE9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>
            <a:off x="5703598" y="4204294"/>
            <a:ext cx="1827638" cy="368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Lógica general de implementación (sin código literal)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Etapa A: </a:t>
            </a:r>
            <a:r>
              <a:rPr sz="1400" b="1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Elaborar</a:t>
            </a:r>
            <a:r>
              <a:rPr sz="1400" b="1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y </a:t>
            </a:r>
            <a:r>
              <a:rPr sz="1400" b="1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completar</a:t>
            </a:r>
            <a:r>
              <a:rPr sz="1400" b="1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FAMILIAS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Etapa B: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Adoptar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FAMILIAS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en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R y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construir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plantilla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de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codificación</a:t>
            </a:r>
            <a:endParaRPr sz="1400" b="0" i="0" u="none" strike="noStrike" cap="none" dirty="0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Etapa C: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Codificador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completa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*_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recod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en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Excel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Etapa D: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Aplicar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codificación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a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datos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(R)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Etapa E: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Adaptar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instrumento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(R)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Etapa F: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Revisión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final y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salida</a:t>
            </a:r>
            <a:r>
              <a:rPr sz="1400" b="0" i="0" u="none" strike="noStrike" cap="none" dirty="0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para </a:t>
            </a:r>
            <a:r>
              <a:rPr sz="1400" b="0" i="0" u="none" strike="noStrike" cap="none" dirty="0" err="1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análisis</a:t>
            </a:r>
            <a:endParaRPr sz="1400" b="0" i="0" u="none" strike="noStrike" cap="none" dirty="0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Sección 1: Configuración FAMILIAS y construcción de plantilla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Orden recomendado: elaborar FAMILIAS, definir familias padre-hijo y luego adoptarlas en R para construir la plantilla de codificación.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Paso 1: Elaborar plantilla FAMILIAS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FAMILIAS no es una validación de errores.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Su objetivo es definir relaciones entre: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Variables de selección (padre)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Variables de texto abierto asociadas (hijo)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Esa relación influye en el comportamiento de la variable padre.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2E7D32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Primero se genera/basea la plantilla FAMILIAS, luego se edita.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Después R adopta esas familias para construir la plantilla de codificación.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1.1 Manipulación de la declaración FAMILIAS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Se editan 3 campos principales (+1 opcional) para declarar correctamente cada familia.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Ciclo de manipulación de FAMILIAS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38413" y="1162878"/>
            <a:ext cx="8739583" cy="5068958"/>
            <a:chOff x="1638413" y="1162878"/>
            <a:chExt cx="8739583" cy="5068958"/>
          </a:xfrm>
        </p:grpSpPr>
        <p:sp>
          <p:nvSpPr>
            <p:cNvPr id="4" name="rc3"/>
            <p:cNvSpPr/>
            <p:nvPr/>
          </p:nvSpPr>
          <p:spPr>
            <a:xfrm>
              <a:off x="1638413" y="1162878"/>
              <a:ext cx="8739582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764938" y="1289403"/>
              <a:ext cx="8486531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3693695" y="1577801"/>
              <a:ext cx="4371849" cy="416961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6"/>
            <p:cNvSpPr/>
            <p:nvPr/>
          </p:nvSpPr>
          <p:spPr>
            <a:xfrm>
              <a:off x="4876662" y="1721388"/>
              <a:ext cx="2005915" cy="1039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1) R genera plantilla base de FAMILIAS</a:t>
              </a:r>
            </a:p>
          </p:txBody>
        </p:sp>
        <p:sp>
          <p:nvSpPr>
            <p:cNvPr id="8" name="pl7"/>
            <p:cNvSpPr/>
            <p:nvPr/>
          </p:nvSpPr>
          <p:spPr>
            <a:xfrm>
              <a:off x="5879620" y="1994763"/>
              <a:ext cx="0" cy="324303"/>
            </a:xfrm>
            <a:custGeom>
              <a:avLst/>
              <a:gdLst/>
              <a:ahLst/>
              <a:cxnLst/>
              <a:rect l="0" t="0" r="0" b="0"/>
              <a:pathLst>
                <a:path h="324303">
                  <a:moveTo>
                    <a:pt x="0" y="0"/>
                  </a:moveTo>
                  <a:lnTo>
                    <a:pt x="0" y="324303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5852620" y="2272301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9"/>
            <p:cNvSpPr/>
            <p:nvPr/>
          </p:nvSpPr>
          <p:spPr>
            <a:xfrm>
              <a:off x="3565112" y="2307484"/>
              <a:ext cx="4629017" cy="440126"/>
            </a:xfrm>
            <a:prstGeom prst="rect">
              <a:avLst/>
            </a:prstGeom>
            <a:solidFill>
              <a:srgbClr val="F0F7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4984035" y="2421696"/>
              <a:ext cx="1791170" cy="888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2) Usuario edita SOLO campos de relación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504784" y="2523346"/>
              <a:ext cx="2749672" cy="886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modo_so, col_otros, campo_texto (+ incluye_no_incluye opcional)</a:t>
              </a:r>
            </a:p>
          </p:txBody>
        </p:sp>
        <p:sp>
          <p:nvSpPr>
            <p:cNvPr id="13" name="pl12"/>
            <p:cNvSpPr/>
            <p:nvPr/>
          </p:nvSpPr>
          <p:spPr>
            <a:xfrm>
              <a:off x="4143739" y="2759193"/>
              <a:ext cx="1735881" cy="416961"/>
            </a:xfrm>
            <a:custGeom>
              <a:avLst/>
              <a:gdLst/>
              <a:ahLst/>
              <a:cxnLst/>
              <a:rect l="0" t="0" r="0" b="0"/>
              <a:pathLst>
                <a:path w="1735881" h="416961">
                  <a:moveTo>
                    <a:pt x="1735881" y="0"/>
                  </a:moveTo>
                  <a:lnTo>
                    <a:pt x="0" y="41696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143739" y="3146414"/>
              <a:ext cx="41422" cy="42005"/>
            </a:xfrm>
            <a:custGeom>
              <a:avLst/>
              <a:gdLst/>
              <a:ahLst/>
              <a:cxnLst/>
              <a:rect l="0" t="0" r="0" b="0"/>
              <a:pathLst>
                <a:path w="41422" h="42005">
                  <a:moveTo>
                    <a:pt x="31332" y="0"/>
                  </a:moveTo>
                  <a:lnTo>
                    <a:pt x="0" y="29740"/>
                  </a:lnTo>
                  <a:lnTo>
                    <a:pt x="41422" y="42005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5879620" y="2759193"/>
              <a:ext cx="1735881" cy="416961"/>
            </a:xfrm>
            <a:custGeom>
              <a:avLst/>
              <a:gdLst/>
              <a:ahLst/>
              <a:cxnLst/>
              <a:rect l="0" t="0" r="0" b="0"/>
              <a:pathLst>
                <a:path w="1735881" h="416961">
                  <a:moveTo>
                    <a:pt x="0" y="0"/>
                  </a:moveTo>
                  <a:lnTo>
                    <a:pt x="1735881" y="41696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7574079" y="3146414"/>
              <a:ext cx="41422" cy="42005"/>
            </a:xfrm>
            <a:custGeom>
              <a:avLst/>
              <a:gdLst/>
              <a:ahLst/>
              <a:cxnLst/>
              <a:rect l="0" t="0" r="0" b="0"/>
              <a:pathLst>
                <a:path w="41422" h="42005">
                  <a:moveTo>
                    <a:pt x="0" y="42005"/>
                  </a:moveTo>
                  <a:lnTo>
                    <a:pt x="41422" y="29740"/>
                  </a:lnTo>
                  <a:lnTo>
                    <a:pt x="1008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6"/>
            <p:cNvSpPr/>
            <p:nvPr/>
          </p:nvSpPr>
          <p:spPr>
            <a:xfrm>
              <a:off x="2600733" y="3176154"/>
              <a:ext cx="3086011" cy="463290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3895200" y="3315216"/>
              <a:ext cx="497076" cy="763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select_one: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099630" y="3402680"/>
              <a:ext cx="2088216" cy="8641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modo_so (padre/hijo) + col_otros + campo_texto</a:t>
              </a:r>
            </a:p>
          </p:txBody>
        </p:sp>
        <p:sp>
          <p:nvSpPr>
            <p:cNvPr id="20" name="rc19"/>
            <p:cNvSpPr/>
            <p:nvPr/>
          </p:nvSpPr>
          <p:spPr>
            <a:xfrm>
              <a:off x="6072496" y="3176154"/>
              <a:ext cx="3086011" cy="46329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7274111" y="3307188"/>
              <a:ext cx="682780" cy="843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select_multiple: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6891434" y="3402415"/>
              <a:ext cx="1448134" cy="866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col_otros (opción) + campo_texto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4143739" y="3639445"/>
              <a:ext cx="1350130" cy="393797"/>
            </a:xfrm>
            <a:custGeom>
              <a:avLst/>
              <a:gdLst/>
              <a:ahLst/>
              <a:cxnLst/>
              <a:rect l="0" t="0" r="0" b="0"/>
              <a:pathLst>
                <a:path w="1350130" h="393797">
                  <a:moveTo>
                    <a:pt x="0" y="0"/>
                  </a:moveTo>
                  <a:lnTo>
                    <a:pt x="1350130" y="393797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3"/>
            <p:cNvSpPr/>
            <p:nvPr/>
          </p:nvSpPr>
          <p:spPr>
            <a:xfrm>
              <a:off x="5451905" y="4002031"/>
              <a:ext cx="41963" cy="41471"/>
            </a:xfrm>
            <a:custGeom>
              <a:avLst/>
              <a:gdLst/>
              <a:ahLst/>
              <a:cxnLst/>
              <a:rect l="0" t="0" r="0" b="0"/>
              <a:pathLst>
                <a:path w="41963" h="41471">
                  <a:moveTo>
                    <a:pt x="0" y="41471"/>
                  </a:moveTo>
                  <a:lnTo>
                    <a:pt x="41963" y="31211"/>
                  </a:lnTo>
                  <a:lnTo>
                    <a:pt x="12096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6265372" y="3639445"/>
              <a:ext cx="1350130" cy="393797"/>
            </a:xfrm>
            <a:custGeom>
              <a:avLst/>
              <a:gdLst/>
              <a:ahLst/>
              <a:cxnLst/>
              <a:rect l="0" t="0" r="0" b="0"/>
              <a:pathLst>
                <a:path w="1350130" h="393797">
                  <a:moveTo>
                    <a:pt x="1350130" y="0"/>
                  </a:moveTo>
                  <a:lnTo>
                    <a:pt x="0" y="393797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5"/>
            <p:cNvSpPr/>
            <p:nvPr/>
          </p:nvSpPr>
          <p:spPr>
            <a:xfrm>
              <a:off x="6265372" y="4002031"/>
              <a:ext cx="41963" cy="41471"/>
            </a:xfrm>
            <a:custGeom>
              <a:avLst/>
              <a:gdLst/>
              <a:ahLst/>
              <a:cxnLst/>
              <a:rect l="0" t="0" r="0" b="0"/>
              <a:pathLst>
                <a:path w="41963" h="41471">
                  <a:moveTo>
                    <a:pt x="29867" y="0"/>
                  </a:moveTo>
                  <a:lnTo>
                    <a:pt x="0" y="31211"/>
                  </a:lnTo>
                  <a:lnTo>
                    <a:pt x="41963" y="41471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6"/>
            <p:cNvSpPr/>
            <p:nvPr/>
          </p:nvSpPr>
          <p:spPr>
            <a:xfrm>
              <a:off x="3500820" y="4021660"/>
              <a:ext cx="4757601" cy="440126"/>
            </a:xfrm>
            <a:prstGeom prst="rect">
              <a:avLst/>
            </a:prstGeom>
            <a:solidFill>
              <a:srgbClr val="E8F5E8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x27"/>
            <p:cNvSpPr/>
            <p:nvPr/>
          </p:nvSpPr>
          <p:spPr>
            <a:xfrm>
              <a:off x="4918870" y="4136605"/>
              <a:ext cx="1921499" cy="880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3) leer_familias_clasificar() adopta las familias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950065" y="4238394"/>
              <a:ext cx="1859110" cy="877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y arma relaciones padre-hijo para el proceso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5879620" y="4450204"/>
              <a:ext cx="0" cy="324303"/>
            </a:xfrm>
            <a:custGeom>
              <a:avLst/>
              <a:gdLst/>
              <a:ahLst/>
              <a:cxnLst/>
              <a:rect l="0" t="0" r="0" b="0"/>
              <a:pathLst>
                <a:path h="324303">
                  <a:moveTo>
                    <a:pt x="0" y="0"/>
                  </a:moveTo>
                  <a:lnTo>
                    <a:pt x="0" y="324303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0"/>
            <p:cNvSpPr/>
            <p:nvPr/>
          </p:nvSpPr>
          <p:spPr>
            <a:xfrm>
              <a:off x="5852620" y="4727742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1"/>
            <p:cNvSpPr/>
            <p:nvPr/>
          </p:nvSpPr>
          <p:spPr>
            <a:xfrm>
              <a:off x="3500820" y="4762925"/>
              <a:ext cx="4757601" cy="440126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x32"/>
            <p:cNvSpPr/>
            <p:nvPr/>
          </p:nvSpPr>
          <p:spPr>
            <a:xfrm>
              <a:off x="4315873" y="4926654"/>
              <a:ext cx="3127494" cy="901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4) construir_plantilla_desde_familias() crea la plantilla de codificación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5879620" y="5191469"/>
              <a:ext cx="0" cy="301138"/>
            </a:xfrm>
            <a:custGeom>
              <a:avLst/>
              <a:gdLst/>
              <a:ahLst/>
              <a:cxnLst/>
              <a:rect l="0" t="0" r="0" b="0"/>
              <a:pathLst>
                <a:path h="301138">
                  <a:moveTo>
                    <a:pt x="0" y="0"/>
                  </a:moveTo>
                  <a:lnTo>
                    <a:pt x="0" y="301138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g34"/>
            <p:cNvSpPr/>
            <p:nvPr/>
          </p:nvSpPr>
          <p:spPr>
            <a:xfrm>
              <a:off x="5852620" y="544584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5"/>
            <p:cNvSpPr/>
            <p:nvPr/>
          </p:nvSpPr>
          <p:spPr>
            <a:xfrm>
              <a:off x="3565112" y="5504190"/>
              <a:ext cx="4629017" cy="347468"/>
            </a:xfrm>
            <a:prstGeom prst="rect">
              <a:avLst/>
            </a:prstGeom>
            <a:solidFill>
              <a:srgbClr val="E2EFDA">
                <a:alpha val="100000"/>
              </a:srgbClr>
            </a:solidFill>
            <a:ln w="21681" cap="flat">
              <a:solidFill>
                <a:srgbClr val="548235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x36"/>
            <p:cNvSpPr/>
            <p:nvPr/>
          </p:nvSpPr>
          <p:spPr>
            <a:xfrm>
              <a:off x="4689860" y="5623757"/>
              <a:ext cx="2379519" cy="866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Salida: plantilla de codificación lista para el codificador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Anatomía operativa de FAMILIAS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84073" y="1162878"/>
            <a:ext cx="8448263" cy="5068958"/>
            <a:chOff x="1784073" y="1162878"/>
            <a:chExt cx="8448263" cy="5068958"/>
          </a:xfrm>
        </p:grpSpPr>
        <p:sp>
          <p:nvSpPr>
            <p:cNvPr id="4" name="rc3"/>
            <p:cNvSpPr/>
            <p:nvPr/>
          </p:nvSpPr>
          <p:spPr>
            <a:xfrm>
              <a:off x="1784072" y="1162878"/>
              <a:ext cx="8448263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10598" y="1289403"/>
              <a:ext cx="8195212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tx5"/>
            <p:cNvSpPr/>
            <p:nvPr/>
          </p:nvSpPr>
          <p:spPr>
            <a:xfrm>
              <a:off x="4265431" y="1619538"/>
              <a:ext cx="3485545" cy="1375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Anatomia de FAMILIAS: campos que se manipulan</a:t>
              </a:r>
            </a:p>
          </p:txBody>
        </p:sp>
        <p:sp>
          <p:nvSpPr>
            <p:cNvPr id="7" name="rc6"/>
            <p:cNvSpPr/>
            <p:nvPr/>
          </p:nvSpPr>
          <p:spPr>
            <a:xfrm>
              <a:off x="2531447" y="2000229"/>
              <a:ext cx="6953513" cy="344344"/>
            </a:xfrm>
            <a:prstGeom prst="rect">
              <a:avLst/>
            </a:prstGeom>
            <a:solidFill>
              <a:srgbClr val="EEF3FA">
                <a:alpha val="100000"/>
              </a:srgbClr>
            </a:solidFill>
            <a:ln w="13550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x7"/>
            <p:cNvSpPr/>
            <p:nvPr/>
          </p:nvSpPr>
          <p:spPr>
            <a:xfrm>
              <a:off x="2877867" y="2142046"/>
              <a:ext cx="300520" cy="589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variable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3948646" y="2126791"/>
              <a:ext cx="145679" cy="74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tipo</a:t>
              </a:r>
            </a:p>
          </p:txBody>
        </p:sp>
        <p:sp>
          <p:nvSpPr>
            <p:cNvPr id="10" name="tx9"/>
            <p:cNvSpPr/>
            <p:nvPr/>
          </p:nvSpPr>
          <p:spPr>
            <a:xfrm>
              <a:off x="4776085" y="2133934"/>
              <a:ext cx="353350" cy="670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modo_so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5829297" y="2133856"/>
              <a:ext cx="357814" cy="67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col_otros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6880546" y="2130634"/>
              <a:ext cx="490373" cy="7037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campo_texto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8158235" y="2130514"/>
              <a:ext cx="666733" cy="678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incluye_no_incluye</a:t>
              </a:r>
            </a:p>
          </p:txBody>
        </p:sp>
        <p:sp>
          <p:nvSpPr>
            <p:cNvPr id="14" name="rc13"/>
            <p:cNvSpPr/>
            <p:nvPr/>
          </p:nvSpPr>
          <p:spPr>
            <a:xfrm>
              <a:off x="2531447" y="2344574"/>
              <a:ext cx="6953513" cy="1328186"/>
            </a:xfrm>
            <a:prstGeom prst="rect">
              <a:avLst/>
            </a:prstGeom>
            <a:solidFill>
              <a:srgbClr val="FAFAFA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3524806" y="2000229"/>
              <a:ext cx="0" cy="1770915"/>
            </a:xfrm>
            <a:custGeom>
              <a:avLst/>
              <a:gdLst/>
              <a:ahLst/>
              <a:cxnLst/>
              <a:rect l="0" t="0" r="0" b="0"/>
              <a:pathLst>
                <a:path h="1770915">
                  <a:moveTo>
                    <a:pt x="0" y="17709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DDDD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4456080" y="2000229"/>
              <a:ext cx="0" cy="1770915"/>
            </a:xfrm>
            <a:custGeom>
              <a:avLst/>
              <a:gdLst/>
              <a:ahLst/>
              <a:cxnLst/>
              <a:rect l="0" t="0" r="0" b="0"/>
              <a:pathLst>
                <a:path h="1770915">
                  <a:moveTo>
                    <a:pt x="0" y="17709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DDDD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5387355" y="2000229"/>
              <a:ext cx="0" cy="1770915"/>
            </a:xfrm>
            <a:custGeom>
              <a:avLst/>
              <a:gdLst/>
              <a:ahLst/>
              <a:cxnLst/>
              <a:rect l="0" t="0" r="0" b="0"/>
              <a:pathLst>
                <a:path h="1770915">
                  <a:moveTo>
                    <a:pt x="0" y="17709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DDDD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6566968" y="2000229"/>
              <a:ext cx="0" cy="1770915"/>
            </a:xfrm>
            <a:custGeom>
              <a:avLst/>
              <a:gdLst/>
              <a:ahLst/>
              <a:cxnLst/>
              <a:rect l="0" t="0" r="0" b="0"/>
              <a:pathLst>
                <a:path h="1770915">
                  <a:moveTo>
                    <a:pt x="0" y="17709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DDDD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7746582" y="2000229"/>
              <a:ext cx="0" cy="1770915"/>
            </a:xfrm>
            <a:custGeom>
              <a:avLst/>
              <a:gdLst/>
              <a:ahLst/>
              <a:cxnLst/>
              <a:rect l="0" t="0" r="0" b="0"/>
              <a:pathLst>
                <a:path h="1770915">
                  <a:moveTo>
                    <a:pt x="0" y="17709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DDDDD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x19"/>
            <p:cNvSpPr/>
            <p:nvPr/>
          </p:nvSpPr>
          <p:spPr>
            <a:xfrm>
              <a:off x="2964823" y="2548683"/>
              <a:ext cx="126608" cy="69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97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p12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846704" y="2555581"/>
              <a:ext cx="349563" cy="608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select_one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82054" y="2547800"/>
              <a:ext cx="341412" cy="687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SO_padre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5897682" y="2549547"/>
              <a:ext cx="221044" cy="66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p12/99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6983081" y="2550676"/>
              <a:ext cx="285304" cy="657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p12_otro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479568" y="2609925"/>
              <a:ext cx="24066" cy="65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777777">
                      <a:alpha val="100000"/>
                    </a:srgbClr>
                  </a:solidFill>
                  <a:latin typeface="Helvetica"/>
                  <a:cs typeface="Helvetica"/>
                </a:rPr>
                <a:t>-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878342" y="2942220"/>
              <a:ext cx="299569" cy="69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97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p12_otro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963243" y="2960304"/>
              <a:ext cx="116485" cy="4968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text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816230" y="2940949"/>
              <a:ext cx="273059" cy="691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SO_hijo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897682" y="2943084"/>
              <a:ext cx="221044" cy="66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p12/99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983081" y="2944213"/>
              <a:ext cx="285304" cy="657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p12_otro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479568" y="3003462"/>
              <a:ext cx="24066" cy="65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777777">
                      <a:alpha val="100000"/>
                    </a:srgbClr>
                  </a:solidFill>
                  <a:latin typeface="Helvetica"/>
                  <a:cs typeface="Helvetica"/>
                </a:rPr>
                <a:t>-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2964823" y="3335757"/>
              <a:ext cx="126608" cy="69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97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p20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782480" y="3336621"/>
              <a:ext cx="478012" cy="66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select_multiple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940727" y="3396999"/>
              <a:ext cx="24066" cy="65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777777">
                      <a:alpha val="100000"/>
                    </a:srgbClr>
                  </a:solidFill>
                  <a:latin typeface="Helvetica"/>
                  <a:cs typeface="Helvetica"/>
                </a:rPr>
                <a:t>-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855512" y="3336444"/>
              <a:ext cx="305383" cy="670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p20/other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983081" y="3337750"/>
              <a:ext cx="285304" cy="657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p20_otro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8367088" y="3335721"/>
              <a:ext cx="249028" cy="678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incluye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2531447" y="3746549"/>
              <a:ext cx="6953513" cy="319748"/>
            </a:xfrm>
            <a:prstGeom prst="rect">
              <a:avLst/>
            </a:prstGeom>
            <a:solidFill>
              <a:srgbClr val="FFF7E6">
                <a:alpha val="100000"/>
              </a:srgbClr>
            </a:solidFill>
            <a:ln w="13550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x38"/>
            <p:cNvSpPr/>
            <p:nvPr/>
          </p:nvSpPr>
          <p:spPr>
            <a:xfrm>
              <a:off x="4187977" y="3868716"/>
              <a:ext cx="3640453" cy="805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8" b="1">
                  <a:solidFill>
                    <a:srgbClr val="7A5A00">
                      <a:alpha val="100000"/>
                    </a:srgbClr>
                  </a:solidFill>
                  <a:latin typeface="Helvetica"/>
                  <a:cs typeface="Helvetica"/>
                </a:rPr>
                <a:t>Campos que se editan: modo_so, col_otros, campo_texto (+ incluye_no_incluye opcional)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2531447" y="4213874"/>
              <a:ext cx="6953513" cy="1524955"/>
            </a:xfrm>
            <a:prstGeom prst="rect">
              <a:avLst/>
            </a:prstGeom>
            <a:solidFill>
              <a:srgbClr val="F9FBFF">
                <a:alpha val="100000"/>
              </a:srgbClr>
            </a:solidFill>
            <a:ln w="13550" cap="flat">
              <a:solidFill>
                <a:srgbClr val="B7C7E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x40"/>
            <p:cNvSpPr/>
            <p:nvPr/>
          </p:nvSpPr>
          <p:spPr>
            <a:xfrm>
              <a:off x="2841872" y="4351457"/>
              <a:ext cx="1197882" cy="955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Reglas clave de familias: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2841872" y="4629812"/>
              <a:ext cx="2762167" cy="8248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1) FAMILIAS define relaciones padre-hijo entre seleccion y texto abierto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2841872" y="4852362"/>
              <a:ext cx="2502038" cy="813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2) En select_one se declara modo_so + col_otros + campo_texto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2841872" y="5073727"/>
              <a:ext cx="2537989" cy="813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3) En select_multiple se declara col_otros (opcion) + campo_texto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2841872" y="5293990"/>
              <a:ext cx="2796086" cy="8240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4) Luego R adopta familias y define comportamiento de la variable padre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Edición operativa de FAMILIAS (ejemplo)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Campos que el usuario modifica: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1.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modo_so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(solo en select_one: padre o hijo)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2.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col_otros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(opción que dispara texto abierto)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3.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campo_texto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(variable abierta vinculada)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4.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incluye_no_incluye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(opcional)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Regla operativa: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select_one: modo_so + col_otros + campo_texto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select_multiple: col_otros + campo_texto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Paso 3: Leer FAMILIAS en R y construir plantilla de codificación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Lógica de etapas en R: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leer_familias_clasificar()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Adopta las familias declaradas (padre-hijo)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construir_plantilla_desde_familias()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Aplica familias sobre instrumento + datos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exportar_plantilla_codificacion_xlsx()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Genera la plantilla que recibirá el codificador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Sección 2: Guía para Codificadores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Todo lo que necesita saber para llenar la plantilla Excel de codificación.
No se requiere conocimiento de 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Hoja NAVEGACIÓN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La hoja NAVEGACIÓN es su punto de partida.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Contiene un índice con hipervinculos a cada hoja de variable.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Cada fila muestra: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Nombre de la variable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Tipo (select_multiple, select_one, text, integer)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Número de registros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Haga clic en el nombre para ir directamente a la hoja.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Hoja INSTRUCCIONES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Resumen de las 10 reglas principales: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1. NO modifique la fila 1 ni la fila 2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2. Edite SOLO columnas *_recod y Control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3. select_multiple: 1=marcar, 0=desmarcar, vacío=sin cambio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4. select_one/text/integer: escriba código en *_recod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5. Nuevas opciones SM: columna con patrón &lt;parent&gt;/&lt;cod&gt;_recod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6. Nuevas categorías SO/INT: bloque auxiliar derecho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7. Columna ejemplo_recod es solo referencia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Mapa de zonas de cada hoja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60875" y="1162878"/>
            <a:ext cx="8294659" cy="5068958"/>
            <a:chOff x="1860875" y="1162878"/>
            <a:chExt cx="8294659" cy="5068958"/>
          </a:xfrm>
        </p:grpSpPr>
        <p:sp>
          <p:nvSpPr>
            <p:cNvPr id="4" name="rc3"/>
            <p:cNvSpPr/>
            <p:nvPr/>
          </p:nvSpPr>
          <p:spPr>
            <a:xfrm>
              <a:off x="1860875" y="1162878"/>
              <a:ext cx="8294658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87400" y="1289403"/>
              <a:ext cx="8041607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3136201" y="1765843"/>
              <a:ext cx="6266187" cy="3863026"/>
            </a:xfrm>
            <a:prstGeom prst="rect">
              <a:avLst/>
            </a:prstGeom>
            <a:solidFill>
              <a:srgbClr val="FAFAFA">
                <a:alpha val="100000"/>
              </a:srgbClr>
            </a:solidFill>
            <a:ln w="13550" cap="flat">
              <a:solidFill>
                <a:srgbClr val="CCCC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3136201" y="1765843"/>
              <a:ext cx="6266187" cy="412056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x7"/>
            <p:cNvSpPr/>
            <p:nvPr/>
          </p:nvSpPr>
          <p:spPr>
            <a:xfrm>
              <a:off x="2748586" y="1937465"/>
              <a:ext cx="230960" cy="669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Fila 1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5489234" y="1908750"/>
              <a:ext cx="1560121" cy="102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i="1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Nombres tecnicos (NO EDITAR)</a:t>
              </a:r>
            </a:p>
          </p:txBody>
        </p:sp>
        <p:sp>
          <p:nvSpPr>
            <p:cNvPr id="10" name="rc9"/>
            <p:cNvSpPr/>
            <p:nvPr/>
          </p:nvSpPr>
          <p:spPr>
            <a:xfrm>
              <a:off x="3136201" y="2177899"/>
              <a:ext cx="6266187" cy="412056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2748586" y="2349521"/>
              <a:ext cx="230960" cy="669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Fila 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5498153" y="2318953"/>
              <a:ext cx="1542283" cy="1038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i="1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Etiquetas legibles (NO EDITAR)</a:t>
              </a:r>
            </a:p>
          </p:txBody>
        </p:sp>
        <p:sp>
          <p:nvSpPr>
            <p:cNvPr id="13" name="rc12"/>
            <p:cNvSpPr/>
            <p:nvPr/>
          </p:nvSpPr>
          <p:spPr>
            <a:xfrm>
              <a:off x="3136201" y="2589955"/>
              <a:ext cx="1044364" cy="3038914"/>
            </a:xfrm>
            <a:prstGeom prst="rect">
              <a:avLst/>
            </a:prstGeom>
            <a:solidFill>
              <a:srgbClr val="DDE3EA">
                <a:alpha val="100000"/>
              </a:srgbClr>
            </a:solidFill>
            <a:ln w="32521" cap="flat">
              <a:solidFill>
                <a:srgbClr val="1F386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x13"/>
            <p:cNvSpPr/>
            <p:nvPr/>
          </p:nvSpPr>
          <p:spPr>
            <a:xfrm>
              <a:off x="3577080" y="2995002"/>
              <a:ext cx="162607" cy="1170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ID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547866" y="3272592"/>
              <a:ext cx="221035" cy="763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_uuid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3525281" y="3370156"/>
              <a:ext cx="266204" cy="763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_index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3394715" y="3457487"/>
              <a:ext cx="527336" cy="865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Codigo pulso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3380144" y="4043000"/>
              <a:ext cx="556479" cy="770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NO EDITAR</a:t>
              </a:r>
            </a:p>
          </p:txBody>
        </p:sp>
        <p:sp>
          <p:nvSpPr>
            <p:cNvPr id="19" name="rc18"/>
            <p:cNvSpPr/>
            <p:nvPr/>
          </p:nvSpPr>
          <p:spPr>
            <a:xfrm>
              <a:off x="4180566" y="2589955"/>
              <a:ext cx="1566546" cy="3038914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32521" cap="flat">
              <a:solidFill>
                <a:srgbClr val="80808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x19"/>
            <p:cNvSpPr/>
            <p:nvPr/>
          </p:nvSpPr>
          <p:spPr>
            <a:xfrm>
              <a:off x="4594267" y="2997763"/>
              <a:ext cx="739144" cy="1077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Referencia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4604805" y="3264123"/>
              <a:ext cx="718068" cy="847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Valores originales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30737" y="3379640"/>
              <a:ext cx="266204" cy="6682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Labels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670044" y="3475572"/>
              <a:ext cx="587590" cy="684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Seleccionadas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685600" y="4043000"/>
              <a:ext cx="556479" cy="770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NO EDITAR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5747113" y="2589955"/>
              <a:ext cx="1566546" cy="3038914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4065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x25"/>
            <p:cNvSpPr/>
            <p:nvPr/>
          </p:nvSpPr>
          <p:spPr>
            <a:xfrm>
              <a:off x="6123868" y="2995002"/>
              <a:ext cx="813037" cy="1170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EDITABLE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6374700" y="3272592"/>
              <a:ext cx="311373" cy="763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*_recod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259241" y="3362172"/>
              <a:ext cx="542289" cy="842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(columnas de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239171" y="3459737"/>
              <a:ext cx="582429" cy="842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recodificacion)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292658" y="3974493"/>
              <a:ext cx="475457" cy="918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AQUI SE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250961" y="4096164"/>
              <a:ext cx="558850" cy="880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CODIFICA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5747113" y="2589955"/>
              <a:ext cx="1566546" cy="3038914"/>
            </a:xfrm>
            <a:prstGeom prst="rect">
              <a:avLst/>
            </a:prstGeom>
            <a:ln w="54202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2"/>
            <p:cNvSpPr/>
            <p:nvPr/>
          </p:nvSpPr>
          <p:spPr>
            <a:xfrm>
              <a:off x="7313660" y="2589955"/>
              <a:ext cx="783273" cy="3038914"/>
            </a:xfrm>
            <a:prstGeom prst="rect">
              <a:avLst/>
            </a:prstGeom>
            <a:solidFill>
              <a:srgbClr val="FFF2E8">
                <a:alpha val="100000"/>
              </a:srgbClr>
            </a:solidFill>
            <a:ln w="32521" cap="flat">
              <a:solidFill>
                <a:srgbClr val="C6591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x33"/>
            <p:cNvSpPr/>
            <p:nvPr/>
          </p:nvSpPr>
          <p:spPr>
            <a:xfrm>
              <a:off x="7480511" y="3003745"/>
              <a:ext cx="449570" cy="952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 b="1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Control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7564419" y="3424580"/>
              <a:ext cx="281755" cy="774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Notas y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7437338" y="3530288"/>
              <a:ext cx="535916" cy="61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observaciones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527025" y="4030661"/>
              <a:ext cx="356541" cy="853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Opcional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8096933" y="2589955"/>
              <a:ext cx="156654" cy="30389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8"/>
            <p:cNvSpPr/>
            <p:nvPr/>
          </p:nvSpPr>
          <p:spPr>
            <a:xfrm>
              <a:off x="8253588" y="2589955"/>
              <a:ext cx="1148801" cy="3038914"/>
            </a:xfrm>
            <a:prstGeom prst="rect">
              <a:avLst/>
            </a:prstGeom>
            <a:solidFill>
              <a:srgbClr val="FCE5CD">
                <a:alpha val="100000"/>
              </a:srgbClr>
            </a:solidFill>
            <a:ln w="32521" cap="flat">
              <a:solidFill>
                <a:srgbClr val="C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x39"/>
            <p:cNvSpPr/>
            <p:nvPr/>
          </p:nvSpPr>
          <p:spPr>
            <a:xfrm>
              <a:off x="8596040" y="3005350"/>
              <a:ext cx="463897" cy="936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Auxiliar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8569202" y="3423809"/>
              <a:ext cx="517573" cy="782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nuevo_codigo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543777" y="3514826"/>
              <a:ext cx="568422" cy="769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nueva_etiqueta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674838" y="4003380"/>
              <a:ext cx="306300" cy="666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Nuevas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8619590" y="4077351"/>
              <a:ext cx="416796" cy="847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categorias</a:t>
              </a:r>
            </a:p>
          </p:txBody>
        </p:sp>
        <p:sp>
          <p:nvSpPr>
            <p:cNvPr id="45" name="pl44"/>
            <p:cNvSpPr/>
            <p:nvPr/>
          </p:nvSpPr>
          <p:spPr>
            <a:xfrm>
              <a:off x="2979547" y="4341194"/>
              <a:ext cx="156654" cy="0"/>
            </a:xfrm>
            <a:custGeom>
              <a:avLst/>
              <a:gdLst/>
              <a:ahLst/>
              <a:cxnLst/>
              <a:rect l="0" t="0" r="0" b="0"/>
              <a:pathLst>
                <a:path w="156654">
                  <a:moveTo>
                    <a:pt x="0" y="0"/>
                  </a:moveTo>
                  <a:lnTo>
                    <a:pt x="15665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g45"/>
            <p:cNvSpPr/>
            <p:nvPr/>
          </p:nvSpPr>
          <p:spPr>
            <a:xfrm>
              <a:off x="3089436" y="4314194"/>
              <a:ext cx="46765" cy="54000"/>
            </a:xfrm>
            <a:custGeom>
              <a:avLst/>
              <a:gdLst/>
              <a:ahLst/>
              <a:cxnLst/>
              <a:rect l="0" t="0" r="0" b="0"/>
              <a:pathLst>
                <a:path w="46765" h="54000">
                  <a:moveTo>
                    <a:pt x="0" y="54000"/>
                  </a:moveTo>
                  <a:lnTo>
                    <a:pt x="46765" y="2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2540744" y="4260937"/>
              <a:ext cx="250986" cy="666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Datos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506845" y="4335481"/>
              <a:ext cx="318783" cy="842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(fila 3+)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Estructura general de cada hoja (ejemplo real)</a:t>
            </a:r>
          </a:p>
        </p:txBody>
      </p:sp>
      <p:pic>
        <p:nvPicPr>
          <p:cNvPr id="3" name="Picture Placeholder 6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288235" y="1162878"/>
            <a:ext cx="11439939" cy="5068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Fila 1 (técnica) vs Fila 2 (etiquetas)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Fila 1: Nombre técnico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Es el identificador que usa el paquete R.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NUNCA la modifique.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C00000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Fila 2: Etiqueta legible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Describe la columna en lenguaje natural.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Sirve de guía visual. Tampoco debe editarse.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Los datos comienzan en la fila 3.</a:t>
            </a:r>
          </a:p>
        </p:txBody>
      </p:sp>
      <p:pic>
        <p:nvPicPr>
          <p:cNvPr id="4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6173304" y="1088800"/>
            <a:ext cx="5584687" cy="51285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Zonas de color en cada hoja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Código de colores: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1F3864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■ Azul oscuro: Columnas ID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(_uuid, _index) — NO editar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80808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■ Gris claro: Referencia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(valores originales) — NO editar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■ Verde claro: Editables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(*_recod) — AQUÍ SE CODIFICA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C65911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■ Naranja: Control / notas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C65911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■ Rojo: Bloque auxiliar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¿Qué tipo de variable estoy codificando?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60875" y="1162878"/>
            <a:ext cx="8294659" cy="5068958"/>
            <a:chOff x="1860875" y="1162878"/>
            <a:chExt cx="8294659" cy="5068958"/>
          </a:xfrm>
        </p:grpSpPr>
        <p:sp>
          <p:nvSpPr>
            <p:cNvPr id="4" name="rc3"/>
            <p:cNvSpPr/>
            <p:nvPr/>
          </p:nvSpPr>
          <p:spPr>
            <a:xfrm>
              <a:off x="1860875" y="1162878"/>
              <a:ext cx="8294658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87400" y="1289403"/>
              <a:ext cx="8041607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4485172" y="1775265"/>
              <a:ext cx="3046063" cy="533914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1F386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6"/>
            <p:cNvSpPr/>
            <p:nvPr/>
          </p:nvSpPr>
          <p:spPr>
            <a:xfrm>
              <a:off x="5351978" y="1886879"/>
              <a:ext cx="1312452" cy="1306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Que tipo de variable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5382585" y="2036384"/>
              <a:ext cx="1251237" cy="1294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8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1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estoy codificando?</a:t>
              </a:r>
            </a:p>
          </p:txBody>
        </p:sp>
        <p:sp>
          <p:nvSpPr>
            <p:cNvPr id="9" name="pl8"/>
            <p:cNvSpPr/>
            <p:nvPr/>
          </p:nvSpPr>
          <p:spPr>
            <a:xfrm>
              <a:off x="3266747" y="2309179"/>
              <a:ext cx="913819" cy="533914"/>
            </a:xfrm>
            <a:custGeom>
              <a:avLst/>
              <a:gdLst/>
              <a:ahLst/>
              <a:cxnLst/>
              <a:rect l="0" t="0" r="0" b="0"/>
              <a:pathLst>
                <a:path w="913819" h="533914">
                  <a:moveTo>
                    <a:pt x="913819" y="0"/>
                  </a:moveTo>
                  <a:lnTo>
                    <a:pt x="0" y="53391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3266747" y="2796189"/>
              <a:ext cx="53999" cy="46904"/>
            </a:xfrm>
            <a:custGeom>
              <a:avLst/>
              <a:gdLst/>
              <a:ahLst/>
              <a:cxnLst/>
              <a:rect l="0" t="0" r="0" b="0"/>
              <a:pathLst>
                <a:path w="53999" h="46904">
                  <a:moveTo>
                    <a:pt x="26757" y="0"/>
                  </a:moveTo>
                  <a:lnTo>
                    <a:pt x="0" y="46904"/>
                  </a:lnTo>
                  <a:lnTo>
                    <a:pt x="53999" y="46625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5094385" y="2309179"/>
              <a:ext cx="0" cy="533914"/>
            </a:xfrm>
            <a:custGeom>
              <a:avLst/>
              <a:gdLst/>
              <a:ahLst/>
              <a:cxnLst/>
              <a:rect l="0" t="0" r="0" b="0"/>
              <a:pathLst>
                <a:path h="533914">
                  <a:moveTo>
                    <a:pt x="0" y="0"/>
                  </a:moveTo>
                  <a:lnTo>
                    <a:pt x="0" y="53391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5067385" y="2796328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6922023" y="2309179"/>
              <a:ext cx="0" cy="533914"/>
            </a:xfrm>
            <a:custGeom>
              <a:avLst/>
              <a:gdLst/>
              <a:ahLst/>
              <a:cxnLst/>
              <a:rect l="0" t="0" r="0" b="0"/>
              <a:pathLst>
                <a:path h="533914">
                  <a:moveTo>
                    <a:pt x="0" y="0"/>
                  </a:moveTo>
                  <a:lnTo>
                    <a:pt x="0" y="53391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6895023" y="2796328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7835842" y="2309179"/>
              <a:ext cx="913819" cy="533914"/>
            </a:xfrm>
            <a:custGeom>
              <a:avLst/>
              <a:gdLst/>
              <a:ahLst/>
              <a:cxnLst/>
              <a:rect l="0" t="0" r="0" b="0"/>
              <a:pathLst>
                <a:path w="913819" h="533914">
                  <a:moveTo>
                    <a:pt x="0" y="0"/>
                  </a:moveTo>
                  <a:lnTo>
                    <a:pt x="913819" y="53391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8695662" y="2796189"/>
              <a:ext cx="53999" cy="46904"/>
            </a:xfrm>
            <a:custGeom>
              <a:avLst/>
              <a:gdLst/>
              <a:ahLst/>
              <a:cxnLst/>
              <a:rect l="0" t="0" r="0" b="0"/>
              <a:pathLst>
                <a:path w="53999" h="46904">
                  <a:moveTo>
                    <a:pt x="0" y="46625"/>
                  </a:moveTo>
                  <a:lnTo>
                    <a:pt x="53999" y="46904"/>
                  </a:lnTo>
                  <a:lnTo>
                    <a:pt x="27241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6"/>
            <p:cNvSpPr/>
            <p:nvPr/>
          </p:nvSpPr>
          <p:spPr>
            <a:xfrm>
              <a:off x="2535692" y="2869789"/>
              <a:ext cx="1462110" cy="480522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2849021" y="3043709"/>
              <a:ext cx="835452" cy="107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select_multiple</a:t>
              </a:r>
            </a:p>
          </p:txBody>
        </p:sp>
        <p:sp>
          <p:nvSpPr>
            <p:cNvPr id="19" name="rc18"/>
            <p:cNvSpPr/>
            <p:nvPr/>
          </p:nvSpPr>
          <p:spPr>
            <a:xfrm>
              <a:off x="4363330" y="2869789"/>
              <a:ext cx="1462110" cy="480522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x19"/>
            <p:cNvSpPr/>
            <p:nvPr/>
          </p:nvSpPr>
          <p:spPr>
            <a:xfrm>
              <a:off x="4795509" y="3053985"/>
              <a:ext cx="597751" cy="97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select_one</a:t>
              </a:r>
            </a:p>
          </p:txBody>
        </p:sp>
        <p:sp>
          <p:nvSpPr>
            <p:cNvPr id="21" name="rc20"/>
            <p:cNvSpPr/>
            <p:nvPr/>
          </p:nvSpPr>
          <p:spPr>
            <a:xfrm>
              <a:off x="6251889" y="2869789"/>
              <a:ext cx="1340267" cy="480522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x21"/>
            <p:cNvSpPr/>
            <p:nvPr/>
          </p:nvSpPr>
          <p:spPr>
            <a:xfrm>
              <a:off x="6819208" y="3071488"/>
              <a:ext cx="205630" cy="801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text</a:t>
              </a:r>
            </a:p>
          </p:txBody>
        </p:sp>
        <p:sp>
          <p:nvSpPr>
            <p:cNvPr id="23" name="rc22"/>
            <p:cNvSpPr/>
            <p:nvPr/>
          </p:nvSpPr>
          <p:spPr>
            <a:xfrm>
              <a:off x="8079527" y="2869789"/>
              <a:ext cx="1340267" cy="480522"/>
            </a:xfrm>
            <a:prstGeom prst="rect">
              <a:avLst/>
            </a:prstGeom>
            <a:solidFill>
              <a:srgbClr val="E6D9F2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8556903" y="3042749"/>
              <a:ext cx="385515" cy="1089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integer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3266747" y="3350312"/>
              <a:ext cx="0" cy="427131"/>
            </a:xfrm>
            <a:custGeom>
              <a:avLst/>
              <a:gdLst/>
              <a:ahLst/>
              <a:cxnLst/>
              <a:rect l="0" t="0" r="0" b="0"/>
              <a:pathLst>
                <a:path h="427131">
                  <a:moveTo>
                    <a:pt x="0" y="0"/>
                  </a:moveTo>
                  <a:lnTo>
                    <a:pt x="0" y="42713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5"/>
            <p:cNvSpPr/>
            <p:nvPr/>
          </p:nvSpPr>
          <p:spPr>
            <a:xfrm>
              <a:off x="3239747" y="3730678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5094385" y="3350312"/>
              <a:ext cx="0" cy="427131"/>
            </a:xfrm>
            <a:custGeom>
              <a:avLst/>
              <a:gdLst/>
              <a:ahLst/>
              <a:cxnLst/>
              <a:rect l="0" t="0" r="0" b="0"/>
              <a:pathLst>
                <a:path h="427131">
                  <a:moveTo>
                    <a:pt x="0" y="0"/>
                  </a:moveTo>
                  <a:lnTo>
                    <a:pt x="0" y="42713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7"/>
            <p:cNvSpPr/>
            <p:nvPr/>
          </p:nvSpPr>
          <p:spPr>
            <a:xfrm>
              <a:off x="5067385" y="3730678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8"/>
            <p:cNvSpPr/>
            <p:nvPr/>
          </p:nvSpPr>
          <p:spPr>
            <a:xfrm>
              <a:off x="6922023" y="3350312"/>
              <a:ext cx="0" cy="427131"/>
            </a:xfrm>
            <a:custGeom>
              <a:avLst/>
              <a:gdLst/>
              <a:ahLst/>
              <a:cxnLst/>
              <a:rect l="0" t="0" r="0" b="0"/>
              <a:pathLst>
                <a:path h="427131">
                  <a:moveTo>
                    <a:pt x="0" y="0"/>
                  </a:moveTo>
                  <a:lnTo>
                    <a:pt x="0" y="42713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29"/>
            <p:cNvSpPr/>
            <p:nvPr/>
          </p:nvSpPr>
          <p:spPr>
            <a:xfrm>
              <a:off x="6895023" y="3730678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8749661" y="3350312"/>
              <a:ext cx="0" cy="427131"/>
            </a:xfrm>
            <a:custGeom>
              <a:avLst/>
              <a:gdLst/>
              <a:ahLst/>
              <a:cxnLst/>
              <a:rect l="0" t="0" r="0" b="0"/>
              <a:pathLst>
                <a:path h="427131">
                  <a:moveTo>
                    <a:pt x="0" y="0"/>
                  </a:moveTo>
                  <a:lnTo>
                    <a:pt x="0" y="427131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1"/>
            <p:cNvSpPr/>
            <p:nvPr/>
          </p:nvSpPr>
          <p:spPr>
            <a:xfrm>
              <a:off x="8722661" y="3730678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2"/>
            <p:cNvSpPr/>
            <p:nvPr/>
          </p:nvSpPr>
          <p:spPr>
            <a:xfrm>
              <a:off x="2474770" y="3804139"/>
              <a:ext cx="1583952" cy="533914"/>
            </a:xfrm>
            <a:prstGeom prst="rect">
              <a:avLst/>
            </a:prstGeom>
            <a:solidFill>
              <a:srgbClr val="F0F7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x33"/>
            <p:cNvSpPr/>
            <p:nvPr/>
          </p:nvSpPr>
          <p:spPr>
            <a:xfrm>
              <a:off x="2890759" y="3916346"/>
              <a:ext cx="751974" cy="869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Varias respuestas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2771876" y="4015978"/>
              <a:ext cx="989742" cy="888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Cada opcion = columna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026525" y="4137080"/>
              <a:ext cx="480443" cy="691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 / 0 / vacio</a:t>
              </a:r>
            </a:p>
          </p:txBody>
        </p:sp>
        <p:sp>
          <p:nvSpPr>
            <p:cNvPr id="37" name="rc36"/>
            <p:cNvSpPr/>
            <p:nvPr/>
          </p:nvSpPr>
          <p:spPr>
            <a:xfrm>
              <a:off x="4302408" y="3804139"/>
              <a:ext cx="1583952" cy="533914"/>
            </a:xfrm>
            <a:prstGeom prst="rect">
              <a:avLst/>
            </a:prstGeom>
            <a:solidFill>
              <a:srgbClr val="F0FAF0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x37"/>
            <p:cNvSpPr/>
            <p:nvPr/>
          </p:nvSpPr>
          <p:spPr>
            <a:xfrm>
              <a:off x="4689634" y="3916346"/>
              <a:ext cx="809501" cy="869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Una sola respuesta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705254" y="4014786"/>
              <a:ext cx="778261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Codigo en *_recod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718329" y="4118822"/>
              <a:ext cx="752112" cy="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Modo padre o hijo</a:t>
              </a:r>
            </a:p>
          </p:txBody>
        </p:sp>
        <p:sp>
          <p:nvSpPr>
            <p:cNvPr id="41" name="rc40"/>
            <p:cNvSpPr/>
            <p:nvPr/>
          </p:nvSpPr>
          <p:spPr>
            <a:xfrm>
              <a:off x="6190968" y="3804139"/>
              <a:ext cx="1462110" cy="533914"/>
            </a:xfrm>
            <a:prstGeom prst="rect">
              <a:avLst/>
            </a:prstGeom>
            <a:solidFill>
              <a:srgbClr val="FFFBEF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1"/>
            <p:cNvSpPr/>
            <p:nvPr/>
          </p:nvSpPr>
          <p:spPr>
            <a:xfrm>
              <a:off x="6702720" y="3933916"/>
              <a:ext cx="438606" cy="694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Texto libre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532892" y="4014786"/>
              <a:ext cx="778261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Codigo en *_recod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436373" y="4116253"/>
              <a:ext cx="971301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Categorizar respuestas</a:t>
              </a:r>
            </a:p>
          </p:txBody>
        </p:sp>
        <p:sp>
          <p:nvSpPr>
            <p:cNvPr id="45" name="rc44"/>
            <p:cNvSpPr/>
            <p:nvPr/>
          </p:nvSpPr>
          <p:spPr>
            <a:xfrm>
              <a:off x="8018606" y="3804139"/>
              <a:ext cx="1462110" cy="533914"/>
            </a:xfrm>
            <a:prstGeom prst="rect">
              <a:avLst/>
            </a:prstGeom>
            <a:solidFill>
              <a:srgbClr val="F5EFFA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tx45"/>
            <p:cNvSpPr/>
            <p:nvPr/>
          </p:nvSpPr>
          <p:spPr>
            <a:xfrm>
              <a:off x="8425902" y="3933916"/>
              <a:ext cx="647518" cy="694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Numero abierto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8360531" y="4014786"/>
              <a:ext cx="778261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Codigo en *_recod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8360553" y="4118088"/>
              <a:ext cx="778215" cy="881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Agrupar en rangos</a:t>
              </a:r>
            </a:p>
          </p:txBody>
        </p:sp>
        <p:sp>
          <p:nvSpPr>
            <p:cNvPr id="49" name="pl48"/>
            <p:cNvSpPr/>
            <p:nvPr/>
          </p:nvSpPr>
          <p:spPr>
            <a:xfrm>
              <a:off x="3266747" y="4338054"/>
              <a:ext cx="0" cy="347044"/>
            </a:xfrm>
            <a:custGeom>
              <a:avLst/>
              <a:gdLst/>
              <a:ahLst/>
              <a:cxnLst/>
              <a:rect l="0" t="0" r="0" b="0"/>
              <a:pathLst>
                <a:path h="347044">
                  <a:moveTo>
                    <a:pt x="0" y="0"/>
                  </a:moveTo>
                  <a:lnTo>
                    <a:pt x="0" y="34704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49"/>
            <p:cNvSpPr/>
            <p:nvPr/>
          </p:nvSpPr>
          <p:spPr>
            <a:xfrm>
              <a:off x="3239747" y="4638333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0"/>
            <p:cNvSpPr/>
            <p:nvPr/>
          </p:nvSpPr>
          <p:spPr>
            <a:xfrm>
              <a:off x="5094385" y="4338054"/>
              <a:ext cx="0" cy="347044"/>
            </a:xfrm>
            <a:custGeom>
              <a:avLst/>
              <a:gdLst/>
              <a:ahLst/>
              <a:cxnLst/>
              <a:rect l="0" t="0" r="0" b="0"/>
              <a:pathLst>
                <a:path h="347044">
                  <a:moveTo>
                    <a:pt x="0" y="0"/>
                  </a:moveTo>
                  <a:lnTo>
                    <a:pt x="0" y="34704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51"/>
            <p:cNvSpPr/>
            <p:nvPr/>
          </p:nvSpPr>
          <p:spPr>
            <a:xfrm>
              <a:off x="5067385" y="463833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2"/>
            <p:cNvSpPr/>
            <p:nvPr/>
          </p:nvSpPr>
          <p:spPr>
            <a:xfrm>
              <a:off x="6922023" y="4338054"/>
              <a:ext cx="0" cy="347044"/>
            </a:xfrm>
            <a:custGeom>
              <a:avLst/>
              <a:gdLst/>
              <a:ahLst/>
              <a:cxnLst/>
              <a:rect l="0" t="0" r="0" b="0"/>
              <a:pathLst>
                <a:path h="347044">
                  <a:moveTo>
                    <a:pt x="0" y="0"/>
                  </a:moveTo>
                  <a:lnTo>
                    <a:pt x="0" y="34704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53"/>
            <p:cNvSpPr/>
            <p:nvPr/>
          </p:nvSpPr>
          <p:spPr>
            <a:xfrm>
              <a:off x="6895023" y="463833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4"/>
            <p:cNvSpPr/>
            <p:nvPr/>
          </p:nvSpPr>
          <p:spPr>
            <a:xfrm>
              <a:off x="8749661" y="4338054"/>
              <a:ext cx="0" cy="347044"/>
            </a:xfrm>
            <a:custGeom>
              <a:avLst/>
              <a:gdLst/>
              <a:ahLst/>
              <a:cxnLst/>
              <a:rect l="0" t="0" r="0" b="0"/>
              <a:pathLst>
                <a:path h="347044">
                  <a:moveTo>
                    <a:pt x="0" y="0"/>
                  </a:moveTo>
                  <a:lnTo>
                    <a:pt x="0" y="34704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5"/>
            <p:cNvSpPr/>
            <p:nvPr/>
          </p:nvSpPr>
          <p:spPr>
            <a:xfrm>
              <a:off x="8722661" y="463833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6"/>
            <p:cNvSpPr/>
            <p:nvPr/>
          </p:nvSpPr>
          <p:spPr>
            <a:xfrm>
              <a:off x="2474770" y="4711794"/>
              <a:ext cx="1583952" cy="533914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7"/>
            <p:cNvSpPr/>
            <p:nvPr/>
          </p:nvSpPr>
          <p:spPr>
            <a:xfrm>
              <a:off x="2922053" y="4835904"/>
              <a:ext cx="689388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Nuevas opciones: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2881062" y="4944303"/>
              <a:ext cx="771369" cy="65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Columna nueva con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2827961" y="5023016"/>
              <a:ext cx="877572" cy="804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&lt;parent&gt;/&lt;cod&gt;_recod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4302408" y="4711794"/>
              <a:ext cx="1583952" cy="533914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1"/>
            <p:cNvSpPr/>
            <p:nvPr/>
          </p:nvSpPr>
          <p:spPr>
            <a:xfrm>
              <a:off x="4723204" y="4787972"/>
              <a:ext cx="742362" cy="813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Nuevas categorias: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4809949" y="4882735"/>
              <a:ext cx="568872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Bloque auxiliar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786976" y="4975085"/>
              <a:ext cx="614817" cy="816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nuevo_codigo +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797817" y="5070059"/>
              <a:ext cx="593136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nueva_etiqueta</a:t>
              </a:r>
            </a:p>
          </p:txBody>
        </p:sp>
        <p:sp>
          <p:nvSpPr>
            <p:cNvPr id="66" name="rc65"/>
            <p:cNvSpPr/>
            <p:nvPr/>
          </p:nvSpPr>
          <p:spPr>
            <a:xfrm>
              <a:off x="6190968" y="4711794"/>
              <a:ext cx="1462110" cy="533914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tx66"/>
            <p:cNvSpPr/>
            <p:nvPr/>
          </p:nvSpPr>
          <p:spPr>
            <a:xfrm>
              <a:off x="6550842" y="4787972"/>
              <a:ext cx="742362" cy="813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Nuevas categorias: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6637587" y="4882735"/>
              <a:ext cx="568872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Bloque auxiliar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614614" y="4975085"/>
              <a:ext cx="614817" cy="816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nuevo_codigo +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625455" y="5070059"/>
              <a:ext cx="593136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nueva_etiqueta</a:t>
              </a:r>
            </a:p>
          </p:txBody>
        </p:sp>
        <p:sp>
          <p:nvSpPr>
            <p:cNvPr id="71" name="rc70"/>
            <p:cNvSpPr/>
            <p:nvPr/>
          </p:nvSpPr>
          <p:spPr>
            <a:xfrm>
              <a:off x="8018606" y="4711794"/>
              <a:ext cx="1462110" cy="533914"/>
            </a:xfrm>
            <a:prstGeom prst="rect">
              <a:avLst/>
            </a:prstGeom>
            <a:solidFill>
              <a:srgbClr val="E6D9F2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1"/>
            <p:cNvSpPr/>
            <p:nvPr/>
          </p:nvSpPr>
          <p:spPr>
            <a:xfrm>
              <a:off x="8378480" y="4787972"/>
              <a:ext cx="742362" cy="813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Nuevas categorias: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8465225" y="4882735"/>
              <a:ext cx="568872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Bloque auxiliar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8442252" y="4975085"/>
              <a:ext cx="614817" cy="816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nuevo_codigo +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8453093" y="5070059"/>
              <a:ext cx="593136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nueva_etiqueta</a:t>
              </a:r>
            </a:p>
          </p:txBody>
        </p:sp>
        <p:sp>
          <p:nvSpPr>
            <p:cNvPr id="76" name="pg75"/>
            <p:cNvSpPr/>
            <p:nvPr/>
          </p:nvSpPr>
          <p:spPr>
            <a:xfrm>
              <a:off x="4128723" y="5535993"/>
              <a:ext cx="3758962" cy="166909"/>
            </a:xfrm>
            <a:custGeom>
              <a:avLst/>
              <a:gdLst/>
              <a:ahLst/>
              <a:cxnLst/>
              <a:rect l="0" t="0" r="0" b="0"/>
              <a:pathLst>
                <a:path w="3758962" h="166909">
                  <a:moveTo>
                    <a:pt x="22765" y="166909"/>
                  </a:moveTo>
                  <a:lnTo>
                    <a:pt x="3736197" y="166909"/>
                  </a:lnTo>
                  <a:lnTo>
                    <a:pt x="3735281" y="166890"/>
                  </a:lnTo>
                  <a:lnTo>
                    <a:pt x="3738941" y="166743"/>
                  </a:lnTo>
                  <a:lnTo>
                    <a:pt x="3742531" y="166010"/>
                  </a:lnTo>
                  <a:lnTo>
                    <a:pt x="3745956" y="164711"/>
                  </a:lnTo>
                  <a:lnTo>
                    <a:pt x="3749129" y="162879"/>
                  </a:lnTo>
                  <a:lnTo>
                    <a:pt x="3751967" y="160562"/>
                  </a:lnTo>
                  <a:lnTo>
                    <a:pt x="3754397" y="157819"/>
                  </a:lnTo>
                  <a:lnTo>
                    <a:pt x="3756355" y="154723"/>
                  </a:lnTo>
                  <a:lnTo>
                    <a:pt x="3757791" y="151353"/>
                  </a:lnTo>
                  <a:lnTo>
                    <a:pt x="3758667" y="147795"/>
                  </a:lnTo>
                  <a:lnTo>
                    <a:pt x="3758962" y="144144"/>
                  </a:lnTo>
                  <a:lnTo>
                    <a:pt x="3758962" y="22765"/>
                  </a:lnTo>
                  <a:lnTo>
                    <a:pt x="3758667" y="19113"/>
                  </a:lnTo>
                  <a:lnTo>
                    <a:pt x="3757791" y="15556"/>
                  </a:lnTo>
                  <a:lnTo>
                    <a:pt x="3756355" y="12185"/>
                  </a:lnTo>
                  <a:lnTo>
                    <a:pt x="3754397" y="9089"/>
                  </a:lnTo>
                  <a:lnTo>
                    <a:pt x="3751967" y="6346"/>
                  </a:lnTo>
                  <a:lnTo>
                    <a:pt x="3749129" y="4029"/>
                  </a:lnTo>
                  <a:lnTo>
                    <a:pt x="3745956" y="2197"/>
                  </a:lnTo>
                  <a:lnTo>
                    <a:pt x="3742531" y="898"/>
                  </a:lnTo>
                  <a:lnTo>
                    <a:pt x="3738941" y="165"/>
                  </a:lnTo>
                  <a:lnTo>
                    <a:pt x="3736197" y="0"/>
                  </a:lnTo>
                  <a:lnTo>
                    <a:pt x="22765" y="0"/>
                  </a:lnTo>
                  <a:lnTo>
                    <a:pt x="25509" y="165"/>
                  </a:lnTo>
                  <a:lnTo>
                    <a:pt x="21848" y="18"/>
                  </a:lnTo>
                  <a:lnTo>
                    <a:pt x="18211" y="460"/>
                  </a:lnTo>
                  <a:lnTo>
                    <a:pt x="14692" y="1479"/>
                  </a:lnTo>
                  <a:lnTo>
                    <a:pt x="11382" y="3049"/>
                  </a:lnTo>
                  <a:lnTo>
                    <a:pt x="8367" y="5131"/>
                  </a:lnTo>
                  <a:lnTo>
                    <a:pt x="5725" y="7669"/>
                  </a:lnTo>
                  <a:lnTo>
                    <a:pt x="3524" y="10597"/>
                  </a:lnTo>
                  <a:lnTo>
                    <a:pt x="1821" y="13841"/>
                  </a:lnTo>
                  <a:lnTo>
                    <a:pt x="661" y="17317"/>
                  </a:lnTo>
                  <a:lnTo>
                    <a:pt x="73" y="20933"/>
                  </a:lnTo>
                  <a:lnTo>
                    <a:pt x="0" y="22765"/>
                  </a:lnTo>
                  <a:lnTo>
                    <a:pt x="0" y="144144"/>
                  </a:lnTo>
                  <a:lnTo>
                    <a:pt x="73" y="142312"/>
                  </a:lnTo>
                  <a:lnTo>
                    <a:pt x="73" y="145975"/>
                  </a:lnTo>
                  <a:lnTo>
                    <a:pt x="661" y="149592"/>
                  </a:lnTo>
                  <a:lnTo>
                    <a:pt x="1821" y="153067"/>
                  </a:lnTo>
                  <a:lnTo>
                    <a:pt x="3524" y="156311"/>
                  </a:lnTo>
                  <a:lnTo>
                    <a:pt x="5725" y="159240"/>
                  </a:lnTo>
                  <a:lnTo>
                    <a:pt x="8367" y="161777"/>
                  </a:lnTo>
                  <a:lnTo>
                    <a:pt x="11382" y="163859"/>
                  </a:lnTo>
                  <a:lnTo>
                    <a:pt x="14692" y="165429"/>
                  </a:lnTo>
                  <a:lnTo>
                    <a:pt x="18211" y="166449"/>
                  </a:lnTo>
                  <a:lnTo>
                    <a:pt x="21848" y="166890"/>
                  </a:lnTo>
                  <a:close/>
                </a:path>
              </a:pathLst>
            </a:custGeom>
            <a:solidFill>
              <a:srgbClr val="FFF8E1">
                <a:alpha val="100000"/>
              </a:srgbClr>
            </a:solidFill>
            <a:ln w="6775" cap="rnd">
              <a:solidFill>
                <a:srgbClr val="BF8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x76"/>
            <p:cNvSpPr/>
            <p:nvPr/>
          </p:nvSpPr>
          <p:spPr>
            <a:xfrm>
              <a:off x="4166664" y="5545837"/>
              <a:ext cx="3683079" cy="11912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 b="1" i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Regla de oro: Deje vacio si no desea cambiar el valor original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Tipo: select_multiple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Preguntas de opción múltiple (marcar varias respuestas)
Color identificador: azul (#DCEBFF)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select_multiple — Proceso paso a paso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00061" y="1162878"/>
            <a:ext cx="9216287" cy="5068958"/>
            <a:chOff x="1400061" y="1162878"/>
            <a:chExt cx="9216287" cy="5068958"/>
          </a:xfrm>
        </p:grpSpPr>
        <p:sp>
          <p:nvSpPr>
            <p:cNvPr id="4" name="rc3"/>
            <p:cNvSpPr/>
            <p:nvPr/>
          </p:nvSpPr>
          <p:spPr>
            <a:xfrm>
              <a:off x="1400060" y="1162878"/>
              <a:ext cx="9216287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526586" y="1289403"/>
              <a:ext cx="8963236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tx5"/>
            <p:cNvSpPr/>
            <p:nvPr/>
          </p:nvSpPr>
          <p:spPr>
            <a:xfrm>
              <a:off x="2638301" y="1817179"/>
              <a:ext cx="337495" cy="799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Paso 1</a:t>
              </a:r>
            </a:p>
          </p:txBody>
        </p:sp>
        <p:sp>
          <p:nvSpPr>
            <p:cNvPr id="7" name="tx6"/>
            <p:cNvSpPr/>
            <p:nvPr/>
          </p:nvSpPr>
          <p:spPr>
            <a:xfrm>
              <a:off x="2340028" y="1912713"/>
              <a:ext cx="934040" cy="1014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Identificar opciones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2267670" y="2029261"/>
              <a:ext cx="1078756" cy="102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originales del catalogo</a:t>
              </a:r>
            </a:p>
          </p:txBody>
        </p:sp>
        <p:sp>
          <p:nvSpPr>
            <p:cNvPr id="9" name="pl8"/>
            <p:cNvSpPr/>
            <p:nvPr/>
          </p:nvSpPr>
          <p:spPr>
            <a:xfrm>
              <a:off x="3738294" y="1975305"/>
              <a:ext cx="640231" cy="0"/>
            </a:xfrm>
            <a:custGeom>
              <a:avLst/>
              <a:gdLst/>
              <a:ahLst/>
              <a:cxnLst/>
              <a:rect l="0" t="0" r="0" b="0"/>
              <a:pathLst>
                <a:path w="640231">
                  <a:moveTo>
                    <a:pt x="0" y="0"/>
                  </a:moveTo>
                  <a:lnTo>
                    <a:pt x="640231" y="0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331759" y="1948305"/>
              <a:ext cx="46765" cy="54000"/>
            </a:xfrm>
            <a:custGeom>
              <a:avLst/>
              <a:gdLst/>
              <a:ahLst/>
              <a:cxnLst/>
              <a:rect l="0" t="0" r="0" b="0"/>
              <a:pathLst>
                <a:path w="46765" h="54000">
                  <a:moveTo>
                    <a:pt x="0" y="54000"/>
                  </a:moveTo>
                  <a:lnTo>
                    <a:pt x="46765" y="2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0"/>
            <p:cNvSpPr/>
            <p:nvPr/>
          </p:nvSpPr>
          <p:spPr>
            <a:xfrm>
              <a:off x="4494930" y="1712619"/>
              <a:ext cx="1862490" cy="525371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x11"/>
            <p:cNvSpPr/>
            <p:nvPr/>
          </p:nvSpPr>
          <p:spPr>
            <a:xfrm>
              <a:off x="5257428" y="1817179"/>
              <a:ext cx="337495" cy="799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Paso 2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5025506" y="1933144"/>
              <a:ext cx="801339" cy="810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Revisar cada fila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977205" y="2030108"/>
              <a:ext cx="897940" cy="101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(cada encuestado)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6357421" y="1975305"/>
              <a:ext cx="640231" cy="0"/>
            </a:xfrm>
            <a:custGeom>
              <a:avLst/>
              <a:gdLst/>
              <a:ahLst/>
              <a:cxnLst/>
              <a:rect l="0" t="0" r="0" b="0"/>
              <a:pathLst>
                <a:path w="640231">
                  <a:moveTo>
                    <a:pt x="0" y="0"/>
                  </a:moveTo>
                  <a:lnTo>
                    <a:pt x="640231" y="0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6950887" y="1948305"/>
              <a:ext cx="46765" cy="54000"/>
            </a:xfrm>
            <a:custGeom>
              <a:avLst/>
              <a:gdLst/>
              <a:ahLst/>
              <a:cxnLst/>
              <a:rect l="0" t="0" r="0" b="0"/>
              <a:pathLst>
                <a:path w="46765" h="54000">
                  <a:moveTo>
                    <a:pt x="0" y="54000"/>
                  </a:moveTo>
                  <a:lnTo>
                    <a:pt x="46765" y="2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6"/>
            <p:cNvSpPr/>
            <p:nvPr/>
          </p:nvSpPr>
          <p:spPr>
            <a:xfrm>
              <a:off x="7114058" y="1712619"/>
              <a:ext cx="1862490" cy="525371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7870548" y="1817205"/>
              <a:ext cx="349510" cy="800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Paso 3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626584" y="1933806"/>
              <a:ext cx="837439" cy="805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Decidir cambios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765292" y="2030187"/>
              <a:ext cx="560021" cy="1012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por opcion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8045303" y="2237991"/>
              <a:ext cx="0" cy="583746"/>
            </a:xfrm>
            <a:custGeom>
              <a:avLst/>
              <a:gdLst/>
              <a:ahLst/>
              <a:cxnLst/>
              <a:rect l="0" t="0" r="0" b="0"/>
              <a:pathLst>
                <a:path h="583746">
                  <a:moveTo>
                    <a:pt x="0" y="0"/>
                  </a:moveTo>
                  <a:lnTo>
                    <a:pt x="0" y="583746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1"/>
            <p:cNvSpPr/>
            <p:nvPr/>
          </p:nvSpPr>
          <p:spPr>
            <a:xfrm>
              <a:off x="8018303" y="2774972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2"/>
            <p:cNvSpPr/>
            <p:nvPr/>
          </p:nvSpPr>
          <p:spPr>
            <a:xfrm>
              <a:off x="6881246" y="2850924"/>
              <a:ext cx="2328113" cy="1167492"/>
            </a:xfrm>
            <a:custGeom>
              <a:avLst/>
              <a:gdLst/>
              <a:ahLst/>
              <a:cxnLst/>
              <a:rect l="0" t="0" r="0" b="0"/>
              <a:pathLst>
                <a:path w="2328113" h="1167492">
                  <a:moveTo>
                    <a:pt x="1164056" y="0"/>
                  </a:moveTo>
                  <a:lnTo>
                    <a:pt x="2328113" y="583746"/>
                  </a:lnTo>
                  <a:lnTo>
                    <a:pt x="1164056" y="1167492"/>
                  </a:lnTo>
                  <a:lnTo>
                    <a:pt x="0" y="583746"/>
                  </a:lnTo>
                  <a:close/>
                </a:path>
              </a:pathLst>
            </a:cu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7842873" y="3343251"/>
              <a:ext cx="404860" cy="762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Cambiar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733296" y="3427926"/>
              <a:ext cx="624013" cy="9475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esta opcion?</a:t>
              </a:r>
            </a:p>
          </p:txBody>
        </p:sp>
        <p:sp>
          <p:nvSpPr>
            <p:cNvPr id="26" name="pl25"/>
            <p:cNvSpPr/>
            <p:nvPr/>
          </p:nvSpPr>
          <p:spPr>
            <a:xfrm>
              <a:off x="9209360" y="3434671"/>
              <a:ext cx="0" cy="817244"/>
            </a:xfrm>
            <a:custGeom>
              <a:avLst/>
              <a:gdLst/>
              <a:ahLst/>
              <a:cxnLst/>
              <a:rect l="0" t="0" r="0" b="0"/>
              <a:pathLst>
                <a:path h="817244">
                  <a:moveTo>
                    <a:pt x="0" y="0"/>
                  </a:moveTo>
                  <a:lnTo>
                    <a:pt x="0" y="817244"/>
                  </a:lnTo>
                </a:path>
              </a:pathLst>
            </a:custGeom>
            <a:ln w="16260" cap="flat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6"/>
            <p:cNvSpPr/>
            <p:nvPr/>
          </p:nvSpPr>
          <p:spPr>
            <a:xfrm>
              <a:off x="9187760" y="4214503"/>
              <a:ext cx="43200" cy="37412"/>
            </a:xfrm>
            <a:custGeom>
              <a:avLst/>
              <a:gdLst/>
              <a:ahLst/>
              <a:cxnLst/>
              <a:rect l="0" t="0" r="0" b="0"/>
              <a:pathLst>
                <a:path w="43200" h="37412">
                  <a:moveTo>
                    <a:pt x="0" y="0"/>
                  </a:moveTo>
                  <a:lnTo>
                    <a:pt x="21599" y="37412"/>
                  </a:lnTo>
                  <a:lnTo>
                    <a:pt x="43200" y="0"/>
                  </a:lnTo>
                  <a:close/>
                </a:path>
              </a:pathLst>
            </a:custGeom>
            <a:solidFill>
              <a:srgbClr val="2E7D32">
                <a:alpha val="100000"/>
              </a:srgbClr>
            </a:solidFill>
            <a:ln w="16260" cap="flat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x27"/>
            <p:cNvSpPr/>
            <p:nvPr/>
          </p:nvSpPr>
          <p:spPr>
            <a:xfrm>
              <a:off x="9336171" y="3802881"/>
              <a:ext cx="95595" cy="768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Si</a:t>
              </a:r>
            </a:p>
          </p:txBody>
        </p:sp>
        <p:sp>
          <p:nvSpPr>
            <p:cNvPr id="29" name="rc28"/>
            <p:cNvSpPr/>
            <p:nvPr/>
          </p:nvSpPr>
          <p:spPr>
            <a:xfrm>
              <a:off x="8569129" y="4310290"/>
              <a:ext cx="1280462" cy="583746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29"/>
            <p:cNvSpPr/>
            <p:nvPr/>
          </p:nvSpPr>
          <p:spPr>
            <a:xfrm>
              <a:off x="8787554" y="4508795"/>
              <a:ext cx="843611" cy="751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Activar: escriba 1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8703149" y="4618067"/>
              <a:ext cx="1012422" cy="751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Desactivar: escriba 0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6881246" y="3434671"/>
              <a:ext cx="0" cy="817244"/>
            </a:xfrm>
            <a:custGeom>
              <a:avLst/>
              <a:gdLst/>
              <a:ahLst/>
              <a:cxnLst/>
              <a:rect l="0" t="0" r="0" b="0"/>
              <a:pathLst>
                <a:path h="817244">
                  <a:moveTo>
                    <a:pt x="0" y="0"/>
                  </a:moveTo>
                  <a:lnTo>
                    <a:pt x="0" y="817244"/>
                  </a:lnTo>
                </a:path>
              </a:pathLst>
            </a:custGeom>
            <a:ln w="16260" cap="flat">
              <a:solidFill>
                <a:srgbClr val="808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2"/>
            <p:cNvSpPr/>
            <p:nvPr/>
          </p:nvSpPr>
          <p:spPr>
            <a:xfrm>
              <a:off x="6859646" y="4214503"/>
              <a:ext cx="43199" cy="37412"/>
            </a:xfrm>
            <a:custGeom>
              <a:avLst/>
              <a:gdLst/>
              <a:ahLst/>
              <a:cxnLst/>
              <a:rect l="0" t="0" r="0" b="0"/>
              <a:pathLst>
                <a:path w="43199" h="37412">
                  <a:moveTo>
                    <a:pt x="0" y="0"/>
                  </a:moveTo>
                  <a:lnTo>
                    <a:pt x="21599" y="37412"/>
                  </a:lnTo>
                  <a:lnTo>
                    <a:pt x="43199" y="0"/>
                  </a:lnTo>
                  <a:close/>
                </a:path>
              </a:pathLst>
            </a:custGeom>
            <a:solidFill>
              <a:srgbClr val="808080">
                <a:alpha val="100000"/>
              </a:srgbClr>
            </a:solidFill>
            <a:ln w="16260" cap="flat">
              <a:solidFill>
                <a:srgbClr val="808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x33"/>
            <p:cNvSpPr/>
            <p:nvPr/>
          </p:nvSpPr>
          <p:spPr>
            <a:xfrm>
              <a:off x="6581000" y="3805006"/>
              <a:ext cx="134871" cy="746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808080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35" name="rc34"/>
            <p:cNvSpPr/>
            <p:nvPr/>
          </p:nvSpPr>
          <p:spPr>
            <a:xfrm>
              <a:off x="6241015" y="4310290"/>
              <a:ext cx="1280462" cy="583746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  <a:ln w="21681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x35"/>
            <p:cNvSpPr/>
            <p:nvPr/>
          </p:nvSpPr>
          <p:spPr>
            <a:xfrm>
              <a:off x="6628203" y="4489898"/>
              <a:ext cx="506087" cy="939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Dejar vacio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6605749" y="4598676"/>
              <a:ext cx="550995" cy="944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(sin cambio)</a:t>
              </a:r>
            </a:p>
          </p:txBody>
        </p:sp>
        <p:sp>
          <p:nvSpPr>
            <p:cNvPr id="38" name="rc37"/>
            <p:cNvSpPr/>
            <p:nvPr/>
          </p:nvSpPr>
          <p:spPr>
            <a:xfrm>
              <a:off x="2952555" y="3171985"/>
              <a:ext cx="2037099" cy="525371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x38"/>
            <p:cNvSpPr/>
            <p:nvPr/>
          </p:nvSpPr>
          <p:spPr>
            <a:xfrm>
              <a:off x="3583091" y="3266831"/>
              <a:ext cx="776027" cy="948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Paso 4 (si aplica)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3512691" y="3377289"/>
              <a:ext cx="916826" cy="936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Necesita una opcion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3383304" y="3483300"/>
              <a:ext cx="1175601" cy="969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que NO esta en catalogo?</a:t>
              </a:r>
            </a:p>
          </p:txBody>
        </p:sp>
        <p:sp>
          <p:nvSpPr>
            <p:cNvPr id="42" name="pl41"/>
            <p:cNvSpPr/>
            <p:nvPr/>
          </p:nvSpPr>
          <p:spPr>
            <a:xfrm>
              <a:off x="3971105" y="3697357"/>
              <a:ext cx="0" cy="466997"/>
            </a:xfrm>
            <a:custGeom>
              <a:avLst/>
              <a:gdLst/>
              <a:ahLst/>
              <a:cxnLst/>
              <a:rect l="0" t="0" r="0" b="0"/>
              <a:pathLst>
                <a:path h="466997">
                  <a:moveTo>
                    <a:pt x="0" y="0"/>
                  </a:moveTo>
                  <a:lnTo>
                    <a:pt x="0" y="466997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g42"/>
            <p:cNvSpPr/>
            <p:nvPr/>
          </p:nvSpPr>
          <p:spPr>
            <a:xfrm>
              <a:off x="3944105" y="4117588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3"/>
            <p:cNvSpPr/>
            <p:nvPr/>
          </p:nvSpPr>
          <p:spPr>
            <a:xfrm>
              <a:off x="2865251" y="4193541"/>
              <a:ext cx="2211707" cy="583746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3467150" y="4297638"/>
              <a:ext cx="1007908" cy="692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Insertar columna nueva: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3354781" y="4381168"/>
              <a:ext cx="1232648" cy="872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Fila 1: &lt;parent&gt;/&lt;cod&gt;_recod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3514172" y="4482635"/>
              <a:ext cx="913866" cy="872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Fila 2: Etiqueta visible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3582066" y="4602039"/>
              <a:ext cx="778077" cy="692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Datos: 1 / 0 / vacio</a:t>
              </a:r>
            </a:p>
          </p:txBody>
        </p:sp>
        <p:sp>
          <p:nvSpPr>
            <p:cNvPr id="49" name="pg48"/>
            <p:cNvSpPr/>
            <p:nvPr/>
          </p:nvSpPr>
          <p:spPr>
            <a:xfrm>
              <a:off x="2988314" y="5126409"/>
              <a:ext cx="1965581" cy="119000"/>
            </a:xfrm>
            <a:custGeom>
              <a:avLst/>
              <a:gdLst/>
              <a:ahLst/>
              <a:cxnLst/>
              <a:rect l="0" t="0" r="0" b="0"/>
              <a:pathLst>
                <a:path w="1965581" h="119000">
                  <a:moveTo>
                    <a:pt x="16260" y="119000"/>
                  </a:moveTo>
                  <a:lnTo>
                    <a:pt x="1949320" y="119000"/>
                  </a:lnTo>
                  <a:lnTo>
                    <a:pt x="1948666" y="118987"/>
                  </a:lnTo>
                  <a:lnTo>
                    <a:pt x="1951280" y="118881"/>
                  </a:lnTo>
                  <a:lnTo>
                    <a:pt x="1953844" y="118358"/>
                  </a:lnTo>
                  <a:lnTo>
                    <a:pt x="1956291" y="117430"/>
                  </a:lnTo>
                  <a:lnTo>
                    <a:pt x="1958558" y="116121"/>
                  </a:lnTo>
                  <a:lnTo>
                    <a:pt x="1960585" y="114466"/>
                  </a:lnTo>
                  <a:lnTo>
                    <a:pt x="1962320" y="112508"/>
                  </a:lnTo>
                  <a:lnTo>
                    <a:pt x="1963719" y="110296"/>
                  </a:lnTo>
                  <a:lnTo>
                    <a:pt x="1964744" y="107888"/>
                  </a:lnTo>
                  <a:lnTo>
                    <a:pt x="1965371" y="105347"/>
                  </a:lnTo>
                  <a:lnTo>
                    <a:pt x="1965581" y="102739"/>
                  </a:lnTo>
                  <a:lnTo>
                    <a:pt x="1965581" y="16260"/>
                  </a:lnTo>
                  <a:lnTo>
                    <a:pt x="1965371" y="13652"/>
                  </a:lnTo>
                  <a:lnTo>
                    <a:pt x="1964744" y="11111"/>
                  </a:lnTo>
                  <a:lnTo>
                    <a:pt x="1963719" y="8704"/>
                  </a:lnTo>
                  <a:lnTo>
                    <a:pt x="1962320" y="6492"/>
                  </a:lnTo>
                  <a:lnTo>
                    <a:pt x="1960585" y="4533"/>
                  </a:lnTo>
                  <a:lnTo>
                    <a:pt x="1958558" y="2878"/>
                  </a:lnTo>
                  <a:lnTo>
                    <a:pt x="1956291" y="1569"/>
                  </a:lnTo>
                  <a:lnTo>
                    <a:pt x="1953844" y="642"/>
                  </a:lnTo>
                  <a:lnTo>
                    <a:pt x="1951280" y="118"/>
                  </a:lnTo>
                  <a:lnTo>
                    <a:pt x="1949320" y="0"/>
                  </a:lnTo>
                  <a:lnTo>
                    <a:pt x="16260" y="0"/>
                  </a:lnTo>
                  <a:lnTo>
                    <a:pt x="18220" y="118"/>
                  </a:lnTo>
                  <a:lnTo>
                    <a:pt x="15605" y="13"/>
                  </a:lnTo>
                  <a:lnTo>
                    <a:pt x="13008" y="328"/>
                  </a:lnTo>
                  <a:lnTo>
                    <a:pt x="10494" y="1056"/>
                  </a:lnTo>
                  <a:lnTo>
                    <a:pt x="8130" y="2178"/>
                  </a:lnTo>
                  <a:lnTo>
                    <a:pt x="5976" y="3665"/>
                  </a:lnTo>
                  <a:lnTo>
                    <a:pt x="4089" y="5477"/>
                  </a:lnTo>
                  <a:lnTo>
                    <a:pt x="2517" y="7569"/>
                  </a:lnTo>
                  <a:lnTo>
                    <a:pt x="1301" y="9887"/>
                  </a:lnTo>
                  <a:lnTo>
                    <a:pt x="472" y="12369"/>
                  </a:lnTo>
                  <a:lnTo>
                    <a:pt x="52" y="14952"/>
                  </a:lnTo>
                  <a:lnTo>
                    <a:pt x="0" y="16260"/>
                  </a:lnTo>
                  <a:lnTo>
                    <a:pt x="0" y="102739"/>
                  </a:lnTo>
                  <a:lnTo>
                    <a:pt x="52" y="101431"/>
                  </a:lnTo>
                  <a:lnTo>
                    <a:pt x="52" y="104047"/>
                  </a:lnTo>
                  <a:lnTo>
                    <a:pt x="472" y="106630"/>
                  </a:lnTo>
                  <a:lnTo>
                    <a:pt x="1301" y="109113"/>
                  </a:lnTo>
                  <a:lnTo>
                    <a:pt x="2517" y="111430"/>
                  </a:lnTo>
                  <a:lnTo>
                    <a:pt x="4089" y="113522"/>
                  </a:lnTo>
                  <a:lnTo>
                    <a:pt x="5976" y="115335"/>
                  </a:lnTo>
                  <a:lnTo>
                    <a:pt x="8130" y="116821"/>
                  </a:lnTo>
                  <a:lnTo>
                    <a:pt x="10494" y="117943"/>
                  </a:lnTo>
                  <a:lnTo>
                    <a:pt x="13008" y="118671"/>
                  </a:lnTo>
                  <a:lnTo>
                    <a:pt x="15605" y="118987"/>
                  </a:lnTo>
                  <a:close/>
                </a:path>
              </a:pathLst>
            </a:custGeom>
            <a:solidFill>
              <a:srgbClr val="F0F7FF">
                <a:alpha val="100000"/>
              </a:srgbClr>
            </a:solidFill>
            <a:ln w="6775" cap="rnd">
              <a:solidFill>
                <a:srgbClr val="1F4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49"/>
            <p:cNvSpPr/>
            <p:nvPr/>
          </p:nvSpPr>
          <p:spPr>
            <a:xfrm>
              <a:off x="3015415" y="5132691"/>
              <a:ext cx="1911379" cy="856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Ej: Fila 1 = p8/99_recod  |  Fila 2 = Otro servicio</a:t>
              </a:r>
            </a:p>
          </p:txBody>
        </p:sp>
        <p:sp>
          <p:nvSpPr>
            <p:cNvPr id="51" name="pg50"/>
            <p:cNvSpPr/>
            <p:nvPr/>
          </p:nvSpPr>
          <p:spPr>
            <a:xfrm>
              <a:off x="4306614" y="5527768"/>
              <a:ext cx="3985207" cy="133527"/>
            </a:xfrm>
            <a:custGeom>
              <a:avLst/>
              <a:gdLst/>
              <a:ahLst/>
              <a:cxnLst/>
              <a:rect l="0" t="0" r="0" b="0"/>
              <a:pathLst>
                <a:path w="3985207" h="133527">
                  <a:moveTo>
                    <a:pt x="18212" y="133527"/>
                  </a:moveTo>
                  <a:lnTo>
                    <a:pt x="3966995" y="133527"/>
                  </a:lnTo>
                  <a:lnTo>
                    <a:pt x="3966262" y="133512"/>
                  </a:lnTo>
                  <a:lnTo>
                    <a:pt x="3969190" y="133394"/>
                  </a:lnTo>
                  <a:lnTo>
                    <a:pt x="3972062" y="132808"/>
                  </a:lnTo>
                  <a:lnTo>
                    <a:pt x="3974803" y="131768"/>
                  </a:lnTo>
                  <a:lnTo>
                    <a:pt x="3977341" y="130303"/>
                  </a:lnTo>
                  <a:lnTo>
                    <a:pt x="3979611" y="128449"/>
                  </a:lnTo>
                  <a:lnTo>
                    <a:pt x="3981555" y="126255"/>
                  </a:lnTo>
                  <a:lnTo>
                    <a:pt x="3983121" y="123778"/>
                  </a:lnTo>
                  <a:lnTo>
                    <a:pt x="3984270" y="121082"/>
                  </a:lnTo>
                  <a:lnTo>
                    <a:pt x="3984971" y="118236"/>
                  </a:lnTo>
                  <a:lnTo>
                    <a:pt x="3985207" y="115315"/>
                  </a:lnTo>
                  <a:lnTo>
                    <a:pt x="3985207" y="18212"/>
                  </a:lnTo>
                  <a:lnTo>
                    <a:pt x="3984971" y="15290"/>
                  </a:lnTo>
                  <a:lnTo>
                    <a:pt x="3984270" y="12444"/>
                  </a:lnTo>
                  <a:lnTo>
                    <a:pt x="3983121" y="9748"/>
                  </a:lnTo>
                  <a:lnTo>
                    <a:pt x="3981555" y="7271"/>
                  </a:lnTo>
                  <a:lnTo>
                    <a:pt x="3979611" y="5077"/>
                  </a:lnTo>
                  <a:lnTo>
                    <a:pt x="3977341" y="3223"/>
                  </a:lnTo>
                  <a:lnTo>
                    <a:pt x="3974803" y="1758"/>
                  </a:lnTo>
                  <a:lnTo>
                    <a:pt x="3972062" y="719"/>
                  </a:lnTo>
                  <a:lnTo>
                    <a:pt x="3969190" y="132"/>
                  </a:lnTo>
                  <a:lnTo>
                    <a:pt x="3966995" y="0"/>
                  </a:lnTo>
                  <a:lnTo>
                    <a:pt x="18212" y="0"/>
                  </a:lnTo>
                  <a:lnTo>
                    <a:pt x="20407" y="132"/>
                  </a:lnTo>
                  <a:lnTo>
                    <a:pt x="17478" y="14"/>
                  </a:lnTo>
                  <a:lnTo>
                    <a:pt x="14569" y="368"/>
                  </a:lnTo>
                  <a:lnTo>
                    <a:pt x="11753" y="1183"/>
                  </a:lnTo>
                  <a:lnTo>
                    <a:pt x="9106" y="2439"/>
                  </a:lnTo>
                  <a:lnTo>
                    <a:pt x="6693" y="4104"/>
                  </a:lnTo>
                  <a:lnTo>
                    <a:pt x="4580" y="6135"/>
                  </a:lnTo>
                  <a:lnTo>
                    <a:pt x="2819" y="8478"/>
                  </a:lnTo>
                  <a:lnTo>
                    <a:pt x="1457" y="11073"/>
                  </a:lnTo>
                  <a:lnTo>
                    <a:pt x="529" y="13853"/>
                  </a:lnTo>
                  <a:lnTo>
                    <a:pt x="59" y="16746"/>
                  </a:lnTo>
                  <a:lnTo>
                    <a:pt x="0" y="18212"/>
                  </a:lnTo>
                  <a:lnTo>
                    <a:pt x="0" y="115315"/>
                  </a:lnTo>
                  <a:lnTo>
                    <a:pt x="59" y="113849"/>
                  </a:lnTo>
                  <a:lnTo>
                    <a:pt x="59" y="116780"/>
                  </a:lnTo>
                  <a:lnTo>
                    <a:pt x="529" y="119673"/>
                  </a:lnTo>
                  <a:lnTo>
                    <a:pt x="1457" y="122453"/>
                  </a:lnTo>
                  <a:lnTo>
                    <a:pt x="2819" y="125048"/>
                  </a:lnTo>
                  <a:lnTo>
                    <a:pt x="4580" y="127392"/>
                  </a:lnTo>
                  <a:lnTo>
                    <a:pt x="6693" y="129422"/>
                  </a:lnTo>
                  <a:lnTo>
                    <a:pt x="9106" y="131087"/>
                  </a:lnTo>
                  <a:lnTo>
                    <a:pt x="11753" y="132343"/>
                  </a:lnTo>
                  <a:lnTo>
                    <a:pt x="14569" y="133159"/>
                  </a:lnTo>
                  <a:lnTo>
                    <a:pt x="17478" y="133512"/>
                  </a:lnTo>
                  <a:close/>
                </a:path>
              </a:pathLst>
            </a:custGeom>
            <a:solidFill>
              <a:srgbClr val="FFF8E1">
                <a:alpha val="100000"/>
              </a:srgbClr>
            </a:solidFill>
            <a:ln w="6775" cap="rnd">
              <a:solidFill>
                <a:srgbClr val="BF8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tx51"/>
            <p:cNvSpPr/>
            <p:nvPr/>
          </p:nvSpPr>
          <p:spPr>
            <a:xfrm>
              <a:off x="4336968" y="5535347"/>
              <a:ext cx="3924500" cy="955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 i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Importante: La columna ejemplo_recod es solo referencia. El adaptador la ignora.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select_multiple — Anatomía de columnas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84073" y="1162878"/>
            <a:ext cx="8448263" cy="5068958"/>
            <a:chOff x="1784073" y="1162878"/>
            <a:chExt cx="8448263" cy="5068958"/>
          </a:xfrm>
        </p:grpSpPr>
        <p:sp>
          <p:nvSpPr>
            <p:cNvPr id="4" name="rc3"/>
            <p:cNvSpPr/>
            <p:nvPr/>
          </p:nvSpPr>
          <p:spPr>
            <a:xfrm>
              <a:off x="1784072" y="1162878"/>
              <a:ext cx="8448263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10598" y="1289403"/>
              <a:ext cx="8195212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tx5"/>
            <p:cNvSpPr/>
            <p:nvPr/>
          </p:nvSpPr>
          <p:spPr>
            <a:xfrm>
              <a:off x="4715072" y="1667832"/>
              <a:ext cx="2586263" cy="1357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Anatomia de una hoja select_multiple</a:t>
              </a:r>
            </a:p>
          </p:txBody>
        </p:sp>
        <p:sp>
          <p:nvSpPr>
            <p:cNvPr id="7" name="rc6"/>
            <p:cNvSpPr/>
            <p:nvPr/>
          </p:nvSpPr>
          <p:spPr>
            <a:xfrm>
              <a:off x="2593532" y="2140700"/>
              <a:ext cx="620849" cy="340518"/>
            </a:xfrm>
            <a:prstGeom prst="rect">
              <a:avLst/>
            </a:prstGeom>
            <a:solidFill>
              <a:srgbClr val="DDE3EA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x7"/>
            <p:cNvSpPr/>
            <p:nvPr/>
          </p:nvSpPr>
          <p:spPr>
            <a:xfrm>
              <a:off x="2815543" y="2275830"/>
              <a:ext cx="176828" cy="610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_uuid</a:t>
              </a:r>
            </a:p>
          </p:txBody>
        </p:sp>
        <p:sp>
          <p:nvSpPr>
            <p:cNvPr id="9" name="rc8"/>
            <p:cNvSpPr/>
            <p:nvPr/>
          </p:nvSpPr>
          <p:spPr>
            <a:xfrm>
              <a:off x="3214382" y="2140700"/>
              <a:ext cx="80710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x9"/>
            <p:cNvSpPr/>
            <p:nvPr/>
          </p:nvSpPr>
          <p:spPr>
            <a:xfrm>
              <a:off x="3547605" y="2269972"/>
              <a:ext cx="140658" cy="66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p8/1</a:t>
              </a:r>
            </a:p>
          </p:txBody>
        </p:sp>
        <p:sp>
          <p:nvSpPr>
            <p:cNvPr id="11" name="rc10"/>
            <p:cNvSpPr/>
            <p:nvPr/>
          </p:nvSpPr>
          <p:spPr>
            <a:xfrm>
              <a:off x="4021486" y="2140700"/>
              <a:ext cx="807104" cy="340518"/>
            </a:xfrm>
            <a:prstGeom prst="rect">
              <a:avLst/>
            </a:prstGeom>
            <a:solidFill>
              <a:srgbClr val="C6EFCE">
                <a:alpha val="100000"/>
              </a:srgbClr>
            </a:solidFill>
            <a:ln w="13550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x11"/>
            <p:cNvSpPr/>
            <p:nvPr/>
          </p:nvSpPr>
          <p:spPr>
            <a:xfrm>
              <a:off x="4234235" y="2268225"/>
              <a:ext cx="381605" cy="687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p8/1_recod</a:t>
              </a:r>
            </a:p>
          </p:txBody>
        </p:sp>
        <p:sp>
          <p:nvSpPr>
            <p:cNvPr id="13" name="rc12"/>
            <p:cNvSpPr/>
            <p:nvPr/>
          </p:nvSpPr>
          <p:spPr>
            <a:xfrm>
              <a:off x="4828590" y="2140700"/>
              <a:ext cx="68293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x13"/>
            <p:cNvSpPr/>
            <p:nvPr/>
          </p:nvSpPr>
          <p:spPr>
            <a:xfrm>
              <a:off x="5099728" y="2269972"/>
              <a:ext cx="140658" cy="66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p8/2</a:t>
              </a:r>
            </a:p>
          </p:txBody>
        </p:sp>
        <p:sp>
          <p:nvSpPr>
            <p:cNvPr id="15" name="rc14"/>
            <p:cNvSpPr/>
            <p:nvPr/>
          </p:nvSpPr>
          <p:spPr>
            <a:xfrm>
              <a:off x="5511524" y="2140700"/>
              <a:ext cx="807104" cy="340518"/>
            </a:xfrm>
            <a:prstGeom prst="rect">
              <a:avLst/>
            </a:prstGeom>
            <a:solidFill>
              <a:srgbClr val="C6EFCE">
                <a:alpha val="100000"/>
              </a:srgbClr>
            </a:solidFill>
            <a:ln w="13550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15"/>
            <p:cNvSpPr/>
            <p:nvPr/>
          </p:nvSpPr>
          <p:spPr>
            <a:xfrm>
              <a:off x="5724274" y="2268225"/>
              <a:ext cx="381605" cy="687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p8/2_recod</a:t>
              </a:r>
            </a:p>
          </p:txBody>
        </p:sp>
        <p:sp>
          <p:nvSpPr>
            <p:cNvPr id="17" name="rc16"/>
            <p:cNvSpPr/>
            <p:nvPr/>
          </p:nvSpPr>
          <p:spPr>
            <a:xfrm>
              <a:off x="6318629" y="2140700"/>
              <a:ext cx="68293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6589767" y="2269972"/>
              <a:ext cx="140658" cy="66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p8/3</a:t>
              </a:r>
            </a:p>
          </p:txBody>
        </p:sp>
        <p:sp>
          <p:nvSpPr>
            <p:cNvPr id="19" name="rc18"/>
            <p:cNvSpPr/>
            <p:nvPr/>
          </p:nvSpPr>
          <p:spPr>
            <a:xfrm>
              <a:off x="7001563" y="2140700"/>
              <a:ext cx="807104" cy="340518"/>
            </a:xfrm>
            <a:prstGeom prst="rect">
              <a:avLst/>
            </a:prstGeom>
            <a:solidFill>
              <a:srgbClr val="C6EFCE">
                <a:alpha val="100000"/>
              </a:srgbClr>
            </a:solidFill>
            <a:ln w="13550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x19"/>
            <p:cNvSpPr/>
            <p:nvPr/>
          </p:nvSpPr>
          <p:spPr>
            <a:xfrm>
              <a:off x="7214313" y="2268225"/>
              <a:ext cx="381605" cy="687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p8/3_recod</a:t>
              </a:r>
            </a:p>
          </p:txBody>
        </p:sp>
        <p:sp>
          <p:nvSpPr>
            <p:cNvPr id="21" name="rc20"/>
            <p:cNvSpPr/>
            <p:nvPr/>
          </p:nvSpPr>
          <p:spPr>
            <a:xfrm>
              <a:off x="7808667" y="2140700"/>
              <a:ext cx="682934" cy="340518"/>
            </a:xfrm>
            <a:prstGeom prst="rect">
              <a:avLst/>
            </a:prstGeom>
            <a:solidFill>
              <a:srgbClr val="FCE4D6">
                <a:alpha val="100000"/>
              </a:srgbClr>
            </a:solidFill>
            <a:ln w="13550" cap="flat">
              <a:solidFill>
                <a:srgbClr val="C6591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x21"/>
            <p:cNvSpPr/>
            <p:nvPr/>
          </p:nvSpPr>
          <p:spPr>
            <a:xfrm>
              <a:off x="8033649" y="2282252"/>
              <a:ext cx="232971" cy="546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Control</a:t>
              </a:r>
            </a:p>
          </p:txBody>
        </p:sp>
        <p:sp>
          <p:nvSpPr>
            <p:cNvPr id="23" name="rc22"/>
            <p:cNvSpPr/>
            <p:nvPr/>
          </p:nvSpPr>
          <p:spPr>
            <a:xfrm>
              <a:off x="8615772" y="2140700"/>
              <a:ext cx="807104" cy="340518"/>
            </a:xfrm>
            <a:prstGeom prst="rect">
              <a:avLst/>
            </a:prstGeom>
            <a:solidFill>
              <a:srgbClr val="D9EAD3">
                <a:alpha val="100000"/>
              </a:srgbClr>
            </a:solidFill>
            <a:ln w="13550" cap="flat">
              <a:solidFill>
                <a:srgbClr val="548235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8805997" y="2273753"/>
              <a:ext cx="426654" cy="6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548235">
                      <a:alpha val="100000"/>
                    </a:srgbClr>
                  </a:solidFill>
                  <a:latin typeface="Helvetica"/>
                  <a:cs typeface="Helvetica"/>
                </a:rPr>
                <a:t>ejemplo_recod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2593532" y="2481218"/>
              <a:ext cx="620849" cy="340518"/>
            </a:xfrm>
            <a:prstGeom prst="rect">
              <a:avLst/>
            </a:prstGeom>
            <a:solidFill>
              <a:srgbClr val="EFF3F7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x25"/>
            <p:cNvSpPr/>
            <p:nvPr/>
          </p:nvSpPr>
          <p:spPr>
            <a:xfrm>
              <a:off x="2871435" y="2628151"/>
              <a:ext cx="65043" cy="466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ID</a:t>
              </a:r>
            </a:p>
          </p:txBody>
        </p:sp>
        <p:sp>
          <p:nvSpPr>
            <p:cNvPr id="27" name="rc26"/>
            <p:cNvSpPr/>
            <p:nvPr/>
          </p:nvSpPr>
          <p:spPr>
            <a:xfrm>
              <a:off x="3214382" y="2481218"/>
              <a:ext cx="80710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x27"/>
            <p:cNvSpPr/>
            <p:nvPr/>
          </p:nvSpPr>
          <p:spPr>
            <a:xfrm>
              <a:off x="3534756" y="2625515"/>
              <a:ext cx="166355" cy="492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Salud</a:t>
              </a:r>
            </a:p>
          </p:txBody>
        </p:sp>
        <p:sp>
          <p:nvSpPr>
            <p:cNvPr id="29" name="rc28"/>
            <p:cNvSpPr/>
            <p:nvPr/>
          </p:nvSpPr>
          <p:spPr>
            <a:xfrm>
              <a:off x="4021486" y="2481218"/>
              <a:ext cx="807104" cy="340518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29"/>
            <p:cNvSpPr/>
            <p:nvPr/>
          </p:nvSpPr>
          <p:spPr>
            <a:xfrm>
              <a:off x="4351102" y="2598913"/>
              <a:ext cx="147871" cy="438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Salud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33472" y="2647751"/>
              <a:ext cx="183131" cy="539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(recod)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4828590" y="2481218"/>
              <a:ext cx="68293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x32"/>
            <p:cNvSpPr/>
            <p:nvPr/>
          </p:nvSpPr>
          <p:spPr>
            <a:xfrm>
              <a:off x="5018184" y="2626753"/>
              <a:ext cx="303745" cy="480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Educacion</a:t>
              </a:r>
            </a:p>
          </p:txBody>
        </p:sp>
        <p:sp>
          <p:nvSpPr>
            <p:cNvPr id="34" name="rc33"/>
            <p:cNvSpPr/>
            <p:nvPr/>
          </p:nvSpPr>
          <p:spPr>
            <a:xfrm>
              <a:off x="5511524" y="2481218"/>
              <a:ext cx="807104" cy="340518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x34"/>
            <p:cNvSpPr/>
            <p:nvPr/>
          </p:nvSpPr>
          <p:spPr>
            <a:xfrm>
              <a:off x="5780078" y="2600014"/>
              <a:ext cx="269996" cy="427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Educacion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5823511" y="2647751"/>
              <a:ext cx="183131" cy="539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(recod)</a:t>
              </a:r>
            </a:p>
          </p:txBody>
        </p:sp>
        <p:sp>
          <p:nvSpPr>
            <p:cNvPr id="37" name="rc36"/>
            <p:cNvSpPr/>
            <p:nvPr/>
          </p:nvSpPr>
          <p:spPr>
            <a:xfrm>
              <a:off x="6318629" y="2481218"/>
              <a:ext cx="68293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x37"/>
            <p:cNvSpPr/>
            <p:nvPr/>
          </p:nvSpPr>
          <p:spPr>
            <a:xfrm>
              <a:off x="6584144" y="2613764"/>
              <a:ext cx="151904" cy="610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Agua</a:t>
              </a:r>
            </a:p>
          </p:txBody>
        </p:sp>
        <p:sp>
          <p:nvSpPr>
            <p:cNvPr id="39" name="rc38"/>
            <p:cNvSpPr/>
            <p:nvPr/>
          </p:nvSpPr>
          <p:spPr>
            <a:xfrm>
              <a:off x="7001563" y="2481218"/>
              <a:ext cx="807104" cy="340518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x39"/>
            <p:cNvSpPr/>
            <p:nvPr/>
          </p:nvSpPr>
          <p:spPr>
            <a:xfrm>
              <a:off x="7337602" y="2588468"/>
              <a:ext cx="135026" cy="542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Agua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313550" y="2647751"/>
              <a:ext cx="183131" cy="539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(recod)</a:t>
              </a:r>
            </a:p>
          </p:txBody>
        </p:sp>
        <p:sp>
          <p:nvSpPr>
            <p:cNvPr id="42" name="rc41"/>
            <p:cNvSpPr/>
            <p:nvPr/>
          </p:nvSpPr>
          <p:spPr>
            <a:xfrm>
              <a:off x="7808667" y="2481218"/>
              <a:ext cx="682934" cy="340518"/>
            </a:xfrm>
            <a:prstGeom prst="rect">
              <a:avLst/>
            </a:prstGeom>
            <a:solidFill>
              <a:srgbClr val="FFF2E8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tx42"/>
            <p:cNvSpPr/>
            <p:nvPr/>
          </p:nvSpPr>
          <p:spPr>
            <a:xfrm>
              <a:off x="8065178" y="2626848"/>
              <a:ext cx="169912" cy="479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Notas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8615772" y="2481218"/>
              <a:ext cx="807104" cy="340518"/>
            </a:xfrm>
            <a:prstGeom prst="rect">
              <a:avLst/>
            </a:prstGeom>
            <a:solidFill>
              <a:srgbClr val="F3F9F1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8871523" y="2618265"/>
              <a:ext cx="295601" cy="539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4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55" i="1">
                  <a:solidFill>
                    <a:srgbClr val="548235">
                      <a:alpha val="100000"/>
                    </a:srgbClr>
                  </a:solidFill>
                  <a:latin typeface="Helvetica"/>
                  <a:cs typeface="Helvetica"/>
                </a:rPr>
                <a:t>(referencia)</a:t>
              </a:r>
            </a:p>
          </p:txBody>
        </p:sp>
        <p:sp>
          <p:nvSpPr>
            <p:cNvPr id="46" name="rc45"/>
            <p:cNvSpPr/>
            <p:nvPr/>
          </p:nvSpPr>
          <p:spPr>
            <a:xfrm>
              <a:off x="2593532" y="2821737"/>
              <a:ext cx="620849" cy="389164"/>
            </a:xfrm>
            <a:prstGeom prst="rect">
              <a:avLst/>
            </a:prstGeom>
            <a:solidFill>
              <a:srgbClr val="EFF3F7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2804519" y="2991595"/>
              <a:ext cx="198876" cy="480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abc-01</a:t>
              </a:r>
            </a:p>
          </p:txBody>
        </p:sp>
        <p:sp>
          <p:nvSpPr>
            <p:cNvPr id="48" name="rc47"/>
            <p:cNvSpPr/>
            <p:nvPr/>
          </p:nvSpPr>
          <p:spPr>
            <a:xfrm>
              <a:off x="3214382" y="2821737"/>
              <a:ext cx="807104" cy="3891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3597837" y="2991917"/>
              <a:ext cx="40193" cy="503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0" name="rc49"/>
            <p:cNvSpPr/>
            <p:nvPr/>
          </p:nvSpPr>
          <p:spPr>
            <a:xfrm>
              <a:off x="4021486" y="2821737"/>
              <a:ext cx="807104" cy="389164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402932" y="2986857"/>
              <a:ext cx="44212" cy="580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rc51"/>
            <p:cNvSpPr/>
            <p:nvPr/>
          </p:nvSpPr>
          <p:spPr>
            <a:xfrm>
              <a:off x="4828590" y="2821737"/>
              <a:ext cx="682934" cy="3891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tx52"/>
            <p:cNvSpPr/>
            <p:nvPr/>
          </p:nvSpPr>
          <p:spPr>
            <a:xfrm>
              <a:off x="5149961" y="2990329"/>
              <a:ext cx="40193" cy="519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rc53"/>
            <p:cNvSpPr/>
            <p:nvPr/>
          </p:nvSpPr>
          <p:spPr>
            <a:xfrm>
              <a:off x="5511524" y="2821737"/>
              <a:ext cx="807104" cy="389164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4"/>
            <p:cNvSpPr/>
            <p:nvPr/>
          </p:nvSpPr>
          <p:spPr>
            <a:xfrm>
              <a:off x="6318629" y="2821737"/>
              <a:ext cx="682934" cy="3891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x55"/>
            <p:cNvSpPr/>
            <p:nvPr/>
          </p:nvSpPr>
          <p:spPr>
            <a:xfrm>
              <a:off x="6639999" y="2991917"/>
              <a:ext cx="40193" cy="503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7" name="rc56"/>
            <p:cNvSpPr/>
            <p:nvPr/>
          </p:nvSpPr>
          <p:spPr>
            <a:xfrm>
              <a:off x="7001563" y="2821737"/>
              <a:ext cx="807104" cy="389164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7"/>
            <p:cNvSpPr/>
            <p:nvPr/>
          </p:nvSpPr>
          <p:spPr>
            <a:xfrm>
              <a:off x="7383009" y="2988643"/>
              <a:ext cx="44212" cy="5628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9" name="pl58"/>
            <p:cNvSpPr/>
            <p:nvPr/>
          </p:nvSpPr>
          <p:spPr>
            <a:xfrm>
              <a:off x="4425038" y="3308192"/>
              <a:ext cx="0" cy="291873"/>
            </a:xfrm>
            <a:custGeom>
              <a:avLst/>
              <a:gdLst/>
              <a:ahLst/>
              <a:cxnLst/>
              <a:rect l="0" t="0" r="0" b="0"/>
              <a:pathLst>
                <a:path h="291873">
                  <a:moveTo>
                    <a:pt x="0" y="0"/>
                  </a:moveTo>
                  <a:lnTo>
                    <a:pt x="0" y="291873"/>
                  </a:lnTo>
                </a:path>
              </a:pathLst>
            </a:custGeom>
            <a:ln w="18970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g59"/>
            <p:cNvSpPr/>
            <p:nvPr/>
          </p:nvSpPr>
          <p:spPr>
            <a:xfrm>
              <a:off x="4403438" y="3562653"/>
              <a:ext cx="43199" cy="37412"/>
            </a:xfrm>
            <a:custGeom>
              <a:avLst/>
              <a:gdLst/>
              <a:ahLst/>
              <a:cxnLst/>
              <a:rect l="0" t="0" r="0" b="0"/>
              <a:pathLst>
                <a:path w="43199" h="37412">
                  <a:moveTo>
                    <a:pt x="0" y="0"/>
                  </a:moveTo>
                  <a:lnTo>
                    <a:pt x="21600" y="37412"/>
                  </a:lnTo>
                  <a:lnTo>
                    <a:pt x="43199" y="0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18970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g60"/>
            <p:cNvSpPr/>
            <p:nvPr/>
          </p:nvSpPr>
          <p:spPr>
            <a:xfrm>
              <a:off x="3905866" y="3686255"/>
              <a:ext cx="1038343" cy="216785"/>
            </a:xfrm>
            <a:custGeom>
              <a:avLst/>
              <a:gdLst/>
              <a:ahLst/>
              <a:cxnLst/>
              <a:rect l="0" t="0" r="0" b="0"/>
              <a:pathLst>
                <a:path w="1038343" h="216785">
                  <a:moveTo>
                    <a:pt x="16260" y="216785"/>
                  </a:moveTo>
                  <a:lnTo>
                    <a:pt x="1022082" y="216785"/>
                  </a:lnTo>
                  <a:lnTo>
                    <a:pt x="1021427" y="216772"/>
                  </a:lnTo>
                  <a:lnTo>
                    <a:pt x="1024042" y="216666"/>
                  </a:lnTo>
                  <a:lnTo>
                    <a:pt x="1026606" y="216143"/>
                  </a:lnTo>
                  <a:lnTo>
                    <a:pt x="1029053" y="215215"/>
                  </a:lnTo>
                  <a:lnTo>
                    <a:pt x="1031319" y="213906"/>
                  </a:lnTo>
                  <a:lnTo>
                    <a:pt x="1033346" y="212251"/>
                  </a:lnTo>
                  <a:lnTo>
                    <a:pt x="1035081" y="210293"/>
                  </a:lnTo>
                  <a:lnTo>
                    <a:pt x="1036480" y="208081"/>
                  </a:lnTo>
                  <a:lnTo>
                    <a:pt x="1037506" y="205673"/>
                  </a:lnTo>
                  <a:lnTo>
                    <a:pt x="1038132" y="203132"/>
                  </a:lnTo>
                  <a:lnTo>
                    <a:pt x="1038343" y="200524"/>
                  </a:lnTo>
                  <a:lnTo>
                    <a:pt x="1038343" y="16260"/>
                  </a:lnTo>
                  <a:lnTo>
                    <a:pt x="1038132" y="13652"/>
                  </a:lnTo>
                  <a:lnTo>
                    <a:pt x="1037506" y="11111"/>
                  </a:lnTo>
                  <a:lnTo>
                    <a:pt x="1036480" y="8704"/>
                  </a:lnTo>
                  <a:lnTo>
                    <a:pt x="1035081" y="6492"/>
                  </a:lnTo>
                  <a:lnTo>
                    <a:pt x="1033346" y="4533"/>
                  </a:lnTo>
                  <a:lnTo>
                    <a:pt x="1031319" y="2878"/>
                  </a:lnTo>
                  <a:lnTo>
                    <a:pt x="1029053" y="1569"/>
                  </a:lnTo>
                  <a:lnTo>
                    <a:pt x="1026606" y="642"/>
                  </a:lnTo>
                  <a:lnTo>
                    <a:pt x="1024042" y="118"/>
                  </a:lnTo>
                  <a:lnTo>
                    <a:pt x="1022082" y="0"/>
                  </a:lnTo>
                  <a:lnTo>
                    <a:pt x="16260" y="0"/>
                  </a:lnTo>
                  <a:lnTo>
                    <a:pt x="18220" y="118"/>
                  </a:lnTo>
                  <a:lnTo>
                    <a:pt x="15605" y="13"/>
                  </a:lnTo>
                  <a:lnTo>
                    <a:pt x="13008" y="328"/>
                  </a:lnTo>
                  <a:lnTo>
                    <a:pt x="10494" y="1056"/>
                  </a:lnTo>
                  <a:lnTo>
                    <a:pt x="8130" y="2178"/>
                  </a:lnTo>
                  <a:lnTo>
                    <a:pt x="5976" y="3665"/>
                  </a:lnTo>
                  <a:lnTo>
                    <a:pt x="4089" y="5477"/>
                  </a:lnTo>
                  <a:lnTo>
                    <a:pt x="2517" y="7569"/>
                  </a:lnTo>
                  <a:lnTo>
                    <a:pt x="1301" y="9887"/>
                  </a:lnTo>
                  <a:lnTo>
                    <a:pt x="472" y="12369"/>
                  </a:lnTo>
                  <a:lnTo>
                    <a:pt x="52" y="14952"/>
                  </a:lnTo>
                  <a:lnTo>
                    <a:pt x="0" y="16260"/>
                  </a:lnTo>
                  <a:lnTo>
                    <a:pt x="0" y="200524"/>
                  </a:lnTo>
                  <a:lnTo>
                    <a:pt x="52" y="199216"/>
                  </a:lnTo>
                  <a:lnTo>
                    <a:pt x="52" y="201832"/>
                  </a:lnTo>
                  <a:lnTo>
                    <a:pt x="472" y="204416"/>
                  </a:lnTo>
                  <a:lnTo>
                    <a:pt x="1301" y="206898"/>
                  </a:lnTo>
                  <a:lnTo>
                    <a:pt x="2517" y="209215"/>
                  </a:lnTo>
                  <a:lnTo>
                    <a:pt x="4089" y="211307"/>
                  </a:lnTo>
                  <a:lnTo>
                    <a:pt x="5976" y="213120"/>
                  </a:lnTo>
                  <a:lnTo>
                    <a:pt x="8130" y="214606"/>
                  </a:lnTo>
                  <a:lnTo>
                    <a:pt x="10494" y="215728"/>
                  </a:lnTo>
                  <a:lnTo>
                    <a:pt x="13008" y="216456"/>
                  </a:lnTo>
                  <a:lnTo>
                    <a:pt x="15605" y="216772"/>
                  </a:lnTo>
                  <a:close/>
                </a:path>
              </a:pathLst>
            </a:custGeom>
            <a:solidFill>
              <a:srgbClr val="FFF0F0">
                <a:alpha val="100000"/>
              </a:srgbClr>
            </a:solidFill>
            <a:ln w="6775" cap="rnd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1"/>
            <p:cNvSpPr/>
            <p:nvPr/>
          </p:nvSpPr>
          <p:spPr>
            <a:xfrm>
              <a:off x="4119928" y="3711768"/>
              <a:ext cx="610219" cy="666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0 = desmarcar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3932968" y="3791645"/>
              <a:ext cx="984140" cy="842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(tenia 1, se cambia a 0)</a:t>
              </a:r>
            </a:p>
          </p:txBody>
        </p:sp>
        <p:sp>
          <p:nvSpPr>
            <p:cNvPr id="64" name="pl63"/>
            <p:cNvSpPr/>
            <p:nvPr/>
          </p:nvSpPr>
          <p:spPr>
            <a:xfrm>
              <a:off x="5915077" y="3308192"/>
              <a:ext cx="0" cy="291873"/>
            </a:xfrm>
            <a:custGeom>
              <a:avLst/>
              <a:gdLst/>
              <a:ahLst/>
              <a:cxnLst/>
              <a:rect l="0" t="0" r="0" b="0"/>
              <a:pathLst>
                <a:path h="291873">
                  <a:moveTo>
                    <a:pt x="0" y="0"/>
                  </a:moveTo>
                  <a:lnTo>
                    <a:pt x="0" y="291873"/>
                  </a:lnTo>
                </a:path>
              </a:pathLst>
            </a:custGeom>
            <a:ln w="18970" cap="flat">
              <a:solidFill>
                <a:srgbClr val="808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g64"/>
            <p:cNvSpPr/>
            <p:nvPr/>
          </p:nvSpPr>
          <p:spPr>
            <a:xfrm>
              <a:off x="5893477" y="3562653"/>
              <a:ext cx="43200" cy="37412"/>
            </a:xfrm>
            <a:custGeom>
              <a:avLst/>
              <a:gdLst/>
              <a:ahLst/>
              <a:cxnLst/>
              <a:rect l="0" t="0" r="0" b="0"/>
              <a:pathLst>
                <a:path w="43200" h="37412">
                  <a:moveTo>
                    <a:pt x="0" y="0"/>
                  </a:moveTo>
                  <a:lnTo>
                    <a:pt x="21600" y="37412"/>
                  </a:lnTo>
                  <a:lnTo>
                    <a:pt x="43200" y="0"/>
                  </a:lnTo>
                  <a:close/>
                </a:path>
              </a:pathLst>
            </a:custGeom>
            <a:solidFill>
              <a:srgbClr val="808080">
                <a:alpha val="100000"/>
              </a:srgbClr>
            </a:solidFill>
            <a:ln w="18970" cap="flat">
              <a:solidFill>
                <a:srgbClr val="8080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g65"/>
            <p:cNvSpPr/>
            <p:nvPr/>
          </p:nvSpPr>
          <p:spPr>
            <a:xfrm>
              <a:off x="5363418" y="3686255"/>
              <a:ext cx="1103317" cy="216785"/>
            </a:xfrm>
            <a:custGeom>
              <a:avLst/>
              <a:gdLst/>
              <a:ahLst/>
              <a:cxnLst/>
              <a:rect l="0" t="0" r="0" b="0"/>
              <a:pathLst>
                <a:path w="1103317" h="216785">
                  <a:moveTo>
                    <a:pt x="16260" y="216785"/>
                  </a:moveTo>
                  <a:lnTo>
                    <a:pt x="1087056" y="216785"/>
                  </a:lnTo>
                  <a:lnTo>
                    <a:pt x="1086401" y="216772"/>
                  </a:lnTo>
                  <a:lnTo>
                    <a:pt x="1089016" y="216666"/>
                  </a:lnTo>
                  <a:lnTo>
                    <a:pt x="1091580" y="216143"/>
                  </a:lnTo>
                  <a:lnTo>
                    <a:pt x="1094027" y="215215"/>
                  </a:lnTo>
                  <a:lnTo>
                    <a:pt x="1096293" y="213906"/>
                  </a:lnTo>
                  <a:lnTo>
                    <a:pt x="1098320" y="212251"/>
                  </a:lnTo>
                  <a:lnTo>
                    <a:pt x="1100056" y="210293"/>
                  </a:lnTo>
                  <a:lnTo>
                    <a:pt x="1101454" y="208081"/>
                  </a:lnTo>
                  <a:lnTo>
                    <a:pt x="1102480" y="205673"/>
                  </a:lnTo>
                  <a:lnTo>
                    <a:pt x="1103106" y="203132"/>
                  </a:lnTo>
                  <a:lnTo>
                    <a:pt x="1103317" y="200524"/>
                  </a:lnTo>
                  <a:lnTo>
                    <a:pt x="1103317" y="16260"/>
                  </a:lnTo>
                  <a:lnTo>
                    <a:pt x="1103106" y="13652"/>
                  </a:lnTo>
                  <a:lnTo>
                    <a:pt x="1102480" y="11111"/>
                  </a:lnTo>
                  <a:lnTo>
                    <a:pt x="1101454" y="8704"/>
                  </a:lnTo>
                  <a:lnTo>
                    <a:pt x="1100056" y="6492"/>
                  </a:lnTo>
                  <a:lnTo>
                    <a:pt x="1098320" y="4533"/>
                  </a:lnTo>
                  <a:lnTo>
                    <a:pt x="1096293" y="2878"/>
                  </a:lnTo>
                  <a:lnTo>
                    <a:pt x="1094027" y="1569"/>
                  </a:lnTo>
                  <a:lnTo>
                    <a:pt x="1091580" y="642"/>
                  </a:lnTo>
                  <a:lnTo>
                    <a:pt x="1089016" y="118"/>
                  </a:lnTo>
                  <a:lnTo>
                    <a:pt x="1087056" y="0"/>
                  </a:lnTo>
                  <a:lnTo>
                    <a:pt x="16260" y="0"/>
                  </a:lnTo>
                  <a:lnTo>
                    <a:pt x="18220" y="118"/>
                  </a:lnTo>
                  <a:lnTo>
                    <a:pt x="15605" y="13"/>
                  </a:lnTo>
                  <a:lnTo>
                    <a:pt x="13008" y="328"/>
                  </a:lnTo>
                  <a:lnTo>
                    <a:pt x="10494" y="1056"/>
                  </a:lnTo>
                  <a:lnTo>
                    <a:pt x="8130" y="2178"/>
                  </a:lnTo>
                  <a:lnTo>
                    <a:pt x="5976" y="3665"/>
                  </a:lnTo>
                  <a:lnTo>
                    <a:pt x="4089" y="5477"/>
                  </a:lnTo>
                  <a:lnTo>
                    <a:pt x="2517" y="7569"/>
                  </a:lnTo>
                  <a:lnTo>
                    <a:pt x="1301" y="9887"/>
                  </a:lnTo>
                  <a:lnTo>
                    <a:pt x="472" y="12369"/>
                  </a:lnTo>
                  <a:lnTo>
                    <a:pt x="52" y="14952"/>
                  </a:lnTo>
                  <a:lnTo>
                    <a:pt x="0" y="16260"/>
                  </a:lnTo>
                  <a:lnTo>
                    <a:pt x="0" y="200524"/>
                  </a:lnTo>
                  <a:lnTo>
                    <a:pt x="52" y="199216"/>
                  </a:lnTo>
                  <a:lnTo>
                    <a:pt x="52" y="201832"/>
                  </a:lnTo>
                  <a:lnTo>
                    <a:pt x="472" y="204416"/>
                  </a:lnTo>
                  <a:lnTo>
                    <a:pt x="1301" y="206898"/>
                  </a:lnTo>
                  <a:lnTo>
                    <a:pt x="2517" y="209215"/>
                  </a:lnTo>
                  <a:lnTo>
                    <a:pt x="4089" y="211307"/>
                  </a:lnTo>
                  <a:lnTo>
                    <a:pt x="5976" y="213120"/>
                  </a:lnTo>
                  <a:lnTo>
                    <a:pt x="8130" y="214606"/>
                  </a:lnTo>
                  <a:lnTo>
                    <a:pt x="10494" y="215728"/>
                  </a:lnTo>
                  <a:lnTo>
                    <a:pt x="13008" y="216456"/>
                  </a:lnTo>
                  <a:lnTo>
                    <a:pt x="15605" y="216772"/>
                  </a:ln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6775" cap="rnd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tx66"/>
            <p:cNvSpPr/>
            <p:nvPr/>
          </p:nvSpPr>
          <p:spPr>
            <a:xfrm>
              <a:off x="5512153" y="3711283"/>
              <a:ext cx="805847" cy="67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vacio = sin cambio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5390519" y="3790189"/>
              <a:ext cx="1049114" cy="857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(mantiene valor original)</a:t>
              </a:r>
            </a:p>
          </p:txBody>
        </p:sp>
        <p:sp>
          <p:nvSpPr>
            <p:cNvPr id="69" name="pl68"/>
            <p:cNvSpPr/>
            <p:nvPr/>
          </p:nvSpPr>
          <p:spPr>
            <a:xfrm>
              <a:off x="7405115" y="3308192"/>
              <a:ext cx="0" cy="291873"/>
            </a:xfrm>
            <a:custGeom>
              <a:avLst/>
              <a:gdLst/>
              <a:ahLst/>
              <a:cxnLst/>
              <a:rect l="0" t="0" r="0" b="0"/>
              <a:pathLst>
                <a:path h="291873">
                  <a:moveTo>
                    <a:pt x="0" y="0"/>
                  </a:moveTo>
                  <a:lnTo>
                    <a:pt x="0" y="291873"/>
                  </a:lnTo>
                </a:path>
              </a:pathLst>
            </a:custGeom>
            <a:ln w="18970" cap="flat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69"/>
            <p:cNvSpPr/>
            <p:nvPr/>
          </p:nvSpPr>
          <p:spPr>
            <a:xfrm>
              <a:off x="7383515" y="3562653"/>
              <a:ext cx="43200" cy="37412"/>
            </a:xfrm>
            <a:custGeom>
              <a:avLst/>
              <a:gdLst/>
              <a:ahLst/>
              <a:cxnLst/>
              <a:rect l="0" t="0" r="0" b="0"/>
              <a:pathLst>
                <a:path w="43200" h="37412">
                  <a:moveTo>
                    <a:pt x="0" y="0"/>
                  </a:moveTo>
                  <a:lnTo>
                    <a:pt x="21600" y="37412"/>
                  </a:lnTo>
                  <a:lnTo>
                    <a:pt x="43200" y="0"/>
                  </a:lnTo>
                  <a:close/>
                </a:path>
              </a:pathLst>
            </a:custGeom>
            <a:solidFill>
              <a:srgbClr val="2E7D32">
                <a:alpha val="100000"/>
              </a:srgbClr>
            </a:solidFill>
            <a:ln w="18970" cap="flat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g70"/>
            <p:cNvSpPr/>
            <p:nvPr/>
          </p:nvSpPr>
          <p:spPr>
            <a:xfrm>
              <a:off x="6941258" y="3686255"/>
              <a:ext cx="927714" cy="216785"/>
            </a:xfrm>
            <a:custGeom>
              <a:avLst/>
              <a:gdLst/>
              <a:ahLst/>
              <a:cxnLst/>
              <a:rect l="0" t="0" r="0" b="0"/>
              <a:pathLst>
                <a:path w="927714" h="216785">
                  <a:moveTo>
                    <a:pt x="16260" y="216785"/>
                  </a:moveTo>
                  <a:lnTo>
                    <a:pt x="911454" y="216785"/>
                  </a:lnTo>
                  <a:lnTo>
                    <a:pt x="910799" y="216772"/>
                  </a:lnTo>
                  <a:lnTo>
                    <a:pt x="913414" y="216666"/>
                  </a:lnTo>
                  <a:lnTo>
                    <a:pt x="915978" y="216143"/>
                  </a:lnTo>
                  <a:lnTo>
                    <a:pt x="918425" y="215215"/>
                  </a:lnTo>
                  <a:lnTo>
                    <a:pt x="920691" y="213906"/>
                  </a:lnTo>
                  <a:lnTo>
                    <a:pt x="922718" y="212251"/>
                  </a:lnTo>
                  <a:lnTo>
                    <a:pt x="924453" y="210293"/>
                  </a:lnTo>
                  <a:lnTo>
                    <a:pt x="925852" y="208081"/>
                  </a:lnTo>
                  <a:lnTo>
                    <a:pt x="926878" y="205673"/>
                  </a:lnTo>
                  <a:lnTo>
                    <a:pt x="927504" y="203132"/>
                  </a:lnTo>
                  <a:lnTo>
                    <a:pt x="927714" y="200524"/>
                  </a:lnTo>
                  <a:lnTo>
                    <a:pt x="927714" y="16260"/>
                  </a:lnTo>
                  <a:lnTo>
                    <a:pt x="927504" y="13652"/>
                  </a:lnTo>
                  <a:lnTo>
                    <a:pt x="926878" y="11111"/>
                  </a:lnTo>
                  <a:lnTo>
                    <a:pt x="925852" y="8704"/>
                  </a:lnTo>
                  <a:lnTo>
                    <a:pt x="924453" y="6492"/>
                  </a:lnTo>
                  <a:lnTo>
                    <a:pt x="922718" y="4533"/>
                  </a:lnTo>
                  <a:lnTo>
                    <a:pt x="920691" y="2878"/>
                  </a:lnTo>
                  <a:lnTo>
                    <a:pt x="918425" y="1569"/>
                  </a:lnTo>
                  <a:lnTo>
                    <a:pt x="915978" y="642"/>
                  </a:lnTo>
                  <a:lnTo>
                    <a:pt x="913414" y="118"/>
                  </a:lnTo>
                  <a:lnTo>
                    <a:pt x="911454" y="0"/>
                  </a:lnTo>
                  <a:lnTo>
                    <a:pt x="16260" y="0"/>
                  </a:lnTo>
                  <a:lnTo>
                    <a:pt x="18220" y="118"/>
                  </a:lnTo>
                  <a:lnTo>
                    <a:pt x="15605" y="13"/>
                  </a:lnTo>
                  <a:lnTo>
                    <a:pt x="13008" y="328"/>
                  </a:lnTo>
                  <a:lnTo>
                    <a:pt x="10494" y="1056"/>
                  </a:lnTo>
                  <a:lnTo>
                    <a:pt x="8130" y="2178"/>
                  </a:lnTo>
                  <a:lnTo>
                    <a:pt x="5976" y="3665"/>
                  </a:lnTo>
                  <a:lnTo>
                    <a:pt x="4089" y="5477"/>
                  </a:lnTo>
                  <a:lnTo>
                    <a:pt x="2517" y="7569"/>
                  </a:lnTo>
                  <a:lnTo>
                    <a:pt x="1301" y="9887"/>
                  </a:lnTo>
                  <a:lnTo>
                    <a:pt x="472" y="12369"/>
                  </a:lnTo>
                  <a:lnTo>
                    <a:pt x="52" y="14952"/>
                  </a:lnTo>
                  <a:lnTo>
                    <a:pt x="0" y="16260"/>
                  </a:lnTo>
                  <a:lnTo>
                    <a:pt x="0" y="200524"/>
                  </a:lnTo>
                  <a:lnTo>
                    <a:pt x="52" y="199216"/>
                  </a:lnTo>
                  <a:lnTo>
                    <a:pt x="52" y="201832"/>
                  </a:lnTo>
                  <a:lnTo>
                    <a:pt x="472" y="204416"/>
                  </a:lnTo>
                  <a:lnTo>
                    <a:pt x="1301" y="206898"/>
                  </a:lnTo>
                  <a:lnTo>
                    <a:pt x="2517" y="209215"/>
                  </a:lnTo>
                  <a:lnTo>
                    <a:pt x="4089" y="211307"/>
                  </a:lnTo>
                  <a:lnTo>
                    <a:pt x="5976" y="213120"/>
                  </a:lnTo>
                  <a:lnTo>
                    <a:pt x="8130" y="214606"/>
                  </a:lnTo>
                  <a:lnTo>
                    <a:pt x="10494" y="215728"/>
                  </a:lnTo>
                  <a:lnTo>
                    <a:pt x="13008" y="216456"/>
                  </a:lnTo>
                  <a:lnTo>
                    <a:pt x="15605" y="216772"/>
                  </a:lnTo>
                  <a:close/>
                </a:path>
              </a:pathLst>
            </a:custGeom>
            <a:solidFill>
              <a:srgbClr val="E8F5E8">
                <a:alpha val="100000"/>
              </a:srgbClr>
            </a:solidFill>
            <a:ln w="6775" cap="rnd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1"/>
            <p:cNvSpPr/>
            <p:nvPr/>
          </p:nvSpPr>
          <p:spPr>
            <a:xfrm>
              <a:off x="7177838" y="3712739"/>
              <a:ext cx="454554" cy="656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1 = marcar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968359" y="3791645"/>
              <a:ext cx="873512" cy="842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(confirmar o activar)</a:t>
              </a:r>
            </a:p>
          </p:txBody>
        </p:sp>
        <p:sp>
          <p:nvSpPr>
            <p:cNvPr id="74" name="rc73"/>
            <p:cNvSpPr/>
            <p:nvPr/>
          </p:nvSpPr>
          <p:spPr>
            <a:xfrm>
              <a:off x="2903957" y="4427039"/>
              <a:ext cx="6208494" cy="1216138"/>
            </a:xfrm>
            <a:prstGeom prst="rect">
              <a:avLst/>
            </a:prstGeom>
            <a:solidFill>
              <a:srgbClr val="FAFAFA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4"/>
            <p:cNvSpPr/>
            <p:nvPr/>
          </p:nvSpPr>
          <p:spPr>
            <a:xfrm>
              <a:off x="5441910" y="4559267"/>
              <a:ext cx="1132588" cy="1013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Leyenda de columnas</a:t>
              </a:r>
            </a:p>
          </p:txBody>
        </p:sp>
        <p:sp>
          <p:nvSpPr>
            <p:cNvPr id="76" name="rc75"/>
            <p:cNvSpPr/>
            <p:nvPr/>
          </p:nvSpPr>
          <p:spPr>
            <a:xfrm>
              <a:off x="3090212" y="4816204"/>
              <a:ext cx="434594" cy="194582"/>
            </a:xfrm>
            <a:prstGeom prst="rect">
              <a:avLst/>
            </a:prstGeom>
            <a:solidFill>
              <a:srgbClr val="DDE3EA">
                <a:alpha val="100000"/>
              </a:srgbClr>
            </a:solidFill>
            <a:ln w="13550" cap="flat">
              <a:solidFill>
                <a:srgbClr val="1F386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tx76"/>
            <p:cNvSpPr/>
            <p:nvPr/>
          </p:nvSpPr>
          <p:spPr>
            <a:xfrm>
              <a:off x="3711061" y="4865751"/>
              <a:ext cx="484987" cy="775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ID (no editar)</a:t>
              </a:r>
            </a:p>
          </p:txBody>
        </p:sp>
        <p:sp>
          <p:nvSpPr>
            <p:cNvPr id="78" name="rc77"/>
            <p:cNvSpPr/>
            <p:nvPr/>
          </p:nvSpPr>
          <p:spPr>
            <a:xfrm>
              <a:off x="4766505" y="4816204"/>
              <a:ext cx="434594" cy="194582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80808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tx78"/>
            <p:cNvSpPr/>
            <p:nvPr/>
          </p:nvSpPr>
          <p:spPr>
            <a:xfrm>
              <a:off x="5387355" y="4863681"/>
              <a:ext cx="688258" cy="796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Original (no editar)</a:t>
              </a:r>
            </a:p>
          </p:txBody>
        </p:sp>
        <p:sp>
          <p:nvSpPr>
            <p:cNvPr id="80" name="rc79"/>
            <p:cNvSpPr/>
            <p:nvPr/>
          </p:nvSpPr>
          <p:spPr>
            <a:xfrm>
              <a:off x="6753223" y="4816204"/>
              <a:ext cx="434594" cy="194582"/>
            </a:xfrm>
            <a:prstGeom prst="rect">
              <a:avLst/>
            </a:prstGeom>
            <a:solidFill>
              <a:srgbClr val="C6EFCE">
                <a:alpha val="100000"/>
              </a:srgbClr>
            </a:solidFill>
            <a:ln w="13550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tx80"/>
            <p:cNvSpPr/>
            <p:nvPr/>
          </p:nvSpPr>
          <p:spPr>
            <a:xfrm>
              <a:off x="7374073" y="4865852"/>
              <a:ext cx="692682" cy="775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*_recod (EDITAR)</a:t>
              </a:r>
            </a:p>
          </p:txBody>
        </p:sp>
        <p:sp>
          <p:nvSpPr>
            <p:cNvPr id="82" name="rc81"/>
            <p:cNvSpPr/>
            <p:nvPr/>
          </p:nvSpPr>
          <p:spPr>
            <a:xfrm>
              <a:off x="3090212" y="5156722"/>
              <a:ext cx="434594" cy="194582"/>
            </a:xfrm>
            <a:prstGeom prst="rect">
              <a:avLst/>
            </a:prstGeom>
            <a:solidFill>
              <a:srgbClr val="FCE4D6">
                <a:alpha val="100000"/>
              </a:srgbClr>
            </a:solidFill>
            <a:ln w="13550" cap="flat">
              <a:solidFill>
                <a:srgbClr val="C6591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tx82"/>
            <p:cNvSpPr/>
            <p:nvPr/>
          </p:nvSpPr>
          <p:spPr>
            <a:xfrm>
              <a:off x="3711061" y="5205255"/>
              <a:ext cx="655956" cy="785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C65911">
                      <a:alpha val="100000"/>
                    </a:srgbClr>
                  </a:solidFill>
                  <a:latin typeface="Helvetica"/>
                  <a:cs typeface="Helvetica"/>
                </a:rPr>
                <a:t>Control (opcional)</a:t>
              </a:r>
            </a:p>
          </p:txBody>
        </p:sp>
        <p:sp>
          <p:nvSpPr>
            <p:cNvPr id="84" name="rc83"/>
            <p:cNvSpPr/>
            <p:nvPr/>
          </p:nvSpPr>
          <p:spPr>
            <a:xfrm>
              <a:off x="4766505" y="5156722"/>
              <a:ext cx="434594" cy="194582"/>
            </a:xfrm>
            <a:prstGeom prst="rect">
              <a:avLst/>
            </a:prstGeom>
            <a:solidFill>
              <a:srgbClr val="D9EAD3">
                <a:alpha val="100000"/>
              </a:srgbClr>
            </a:solidFill>
            <a:ln w="13550" cap="flat">
              <a:solidFill>
                <a:srgbClr val="548235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tx84"/>
            <p:cNvSpPr/>
            <p:nvPr/>
          </p:nvSpPr>
          <p:spPr>
            <a:xfrm>
              <a:off x="5387355" y="5204849"/>
              <a:ext cx="637410" cy="78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>
                  <a:solidFill>
                    <a:srgbClr val="548235">
                      <a:alpha val="100000"/>
                    </a:srgbClr>
                  </a:solidFill>
                  <a:latin typeface="Helvetica"/>
                  <a:cs typeface="Helvetica"/>
                </a:rPr>
                <a:t>Ejemplo (ignorar)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select_multiple — Vista general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Cada opción del catálogo es una columna.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Cómo codificar: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1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= marcar (activar opción)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0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= desmarcar (desactivar)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vacío = sin cambio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Las columnas *_recod van junto a cada opción.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Seleccionadas y Seleccionadas_cod son referencia.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select_multiple — Agregar opción nueva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Para agregar una opción nueva: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1. Inserte una columna nueva.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2. Fila 1: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 &lt;parent&gt;/&lt;nuevo_codigo&gt;_recod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Ej: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p8/99_recod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3. Fila 2: etiqueta visible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Ej: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Otro servicio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4. Datos: 1 / 0 / vacío.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ejemplo_recod es solo referencia.</a:t>
            </a:r>
          </a:p>
        </p:txBody>
      </p:sp>
      <p:pic>
        <p:nvPicPr>
          <p:cNvPr id="4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6173304" y="1088800"/>
            <a:ext cx="5584687" cy="51285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select_multiple — Antes y después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pic>
        <p:nvPicPr>
          <p:cNvPr id="4" name="Picture Placeholder 7"/>
          <p:cNvPicPr>
            <a:picLocks noGrp="1"/>
          </p:cNvPicPr>
          <p:nvPr>
            <p:ph type="pic" sz="quarter" idx="13"/>
          </p:nvPr>
        </p:nvPicPr>
        <p:blipFill>
          <a:blip r:embed="rId3"/>
          <a:stretch>
            <a:fillRect/>
          </a:stretch>
        </p:blipFill>
        <p:spPr>
          <a:xfrm>
            <a:off x="6390860" y="1073427"/>
            <a:ext cx="5584687" cy="512859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Tipo: select_one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Preguntas de opción única (una sola respuesta)
Color identificador: verde (#DFF5DF)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select_one — Modo padre vs modo hijo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60875" y="1162878"/>
            <a:ext cx="8294659" cy="5068958"/>
            <a:chOff x="1860875" y="1162878"/>
            <a:chExt cx="8294659" cy="5068958"/>
          </a:xfrm>
        </p:grpSpPr>
        <p:sp>
          <p:nvSpPr>
            <p:cNvPr id="4" name="rc3"/>
            <p:cNvSpPr/>
            <p:nvPr/>
          </p:nvSpPr>
          <p:spPr>
            <a:xfrm>
              <a:off x="1860875" y="1162878"/>
              <a:ext cx="8294658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87400" y="1289403"/>
              <a:ext cx="8041607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4679013" y="1578171"/>
              <a:ext cx="2658382" cy="419179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6"/>
            <p:cNvSpPr/>
            <p:nvPr/>
          </p:nvSpPr>
          <p:spPr>
            <a:xfrm>
              <a:off x="5699988" y="1665551"/>
              <a:ext cx="616431" cy="1007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select_one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5186586" y="1782749"/>
              <a:ext cx="1643235" cy="112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Identificar el modo de la hoja</a:t>
              </a:r>
            </a:p>
          </p:txBody>
        </p:sp>
        <p:sp>
          <p:nvSpPr>
            <p:cNvPr id="9" name="pl8"/>
            <p:cNvSpPr/>
            <p:nvPr/>
          </p:nvSpPr>
          <p:spPr>
            <a:xfrm>
              <a:off x="4014417" y="1997351"/>
              <a:ext cx="664595" cy="326028"/>
            </a:xfrm>
            <a:custGeom>
              <a:avLst/>
              <a:gdLst/>
              <a:ahLst/>
              <a:cxnLst/>
              <a:rect l="0" t="0" r="0" b="0"/>
              <a:pathLst>
                <a:path w="664595" h="326028">
                  <a:moveTo>
                    <a:pt x="664595" y="0"/>
                  </a:moveTo>
                  <a:lnTo>
                    <a:pt x="0" y="326028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14417" y="2278542"/>
              <a:ext cx="53876" cy="48480"/>
            </a:xfrm>
            <a:custGeom>
              <a:avLst/>
              <a:gdLst/>
              <a:ahLst/>
              <a:cxnLst/>
              <a:rect l="0" t="0" r="0" b="0"/>
              <a:pathLst>
                <a:path w="53876" h="48480">
                  <a:moveTo>
                    <a:pt x="30093" y="0"/>
                  </a:moveTo>
                  <a:lnTo>
                    <a:pt x="0" y="44836"/>
                  </a:lnTo>
                  <a:lnTo>
                    <a:pt x="53876" y="4848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7337395" y="1997351"/>
              <a:ext cx="664595" cy="326028"/>
            </a:xfrm>
            <a:custGeom>
              <a:avLst/>
              <a:gdLst/>
              <a:ahLst/>
              <a:cxnLst/>
              <a:rect l="0" t="0" r="0" b="0"/>
              <a:pathLst>
                <a:path w="664595" h="326028">
                  <a:moveTo>
                    <a:pt x="0" y="0"/>
                  </a:moveTo>
                  <a:lnTo>
                    <a:pt x="664595" y="326028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7948114" y="2278542"/>
              <a:ext cx="53876" cy="48480"/>
            </a:xfrm>
            <a:custGeom>
              <a:avLst/>
              <a:gdLst/>
              <a:ahLst/>
              <a:cxnLst/>
              <a:rect l="0" t="0" r="0" b="0"/>
              <a:pathLst>
                <a:path w="53876" h="48480">
                  <a:moveTo>
                    <a:pt x="0" y="48480"/>
                  </a:moveTo>
                  <a:lnTo>
                    <a:pt x="53876" y="44836"/>
                  </a:lnTo>
                  <a:lnTo>
                    <a:pt x="23782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2"/>
            <p:cNvSpPr/>
            <p:nvPr/>
          </p:nvSpPr>
          <p:spPr>
            <a:xfrm>
              <a:off x="2851375" y="2369955"/>
              <a:ext cx="2326084" cy="419179"/>
            </a:xfrm>
            <a:prstGeom prst="rect">
              <a:avLst/>
            </a:prstGeom>
            <a:solidFill>
              <a:srgbClr val="D5E8D4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x13"/>
            <p:cNvSpPr/>
            <p:nvPr/>
          </p:nvSpPr>
          <p:spPr>
            <a:xfrm>
              <a:off x="3665144" y="2479983"/>
              <a:ext cx="698545" cy="800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Modo PADRE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249283" y="2574670"/>
              <a:ext cx="1530267" cy="10242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Recodifica la variable original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4014417" y="2789134"/>
              <a:ext cx="0" cy="372604"/>
            </a:xfrm>
            <a:custGeom>
              <a:avLst/>
              <a:gdLst/>
              <a:ahLst/>
              <a:cxnLst/>
              <a:rect l="0" t="0" r="0" b="0"/>
              <a:pathLst>
                <a:path h="372604">
                  <a:moveTo>
                    <a:pt x="0" y="0"/>
                  </a:moveTo>
                  <a:lnTo>
                    <a:pt x="0" y="37260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987417" y="3114973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7"/>
            <p:cNvSpPr/>
            <p:nvPr/>
          </p:nvSpPr>
          <p:spPr>
            <a:xfrm>
              <a:off x="2751685" y="3185026"/>
              <a:ext cx="2525463" cy="372604"/>
            </a:xfrm>
            <a:prstGeom prst="rect">
              <a:avLst/>
            </a:prstGeom>
            <a:solidFill>
              <a:srgbClr val="F0FAF0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x18"/>
            <p:cNvSpPr/>
            <p:nvPr/>
          </p:nvSpPr>
          <p:spPr>
            <a:xfrm>
              <a:off x="3606642" y="3276502"/>
              <a:ext cx="815550" cy="764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Columna editable: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488593" y="3366112"/>
              <a:ext cx="1051648" cy="961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Recodificacion (codigo)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4014417" y="3557630"/>
              <a:ext cx="0" cy="349316"/>
            </a:xfrm>
            <a:custGeom>
              <a:avLst/>
              <a:gdLst/>
              <a:ahLst/>
              <a:cxnLst/>
              <a:rect l="0" t="0" r="0" b="0"/>
              <a:pathLst>
                <a:path h="349316">
                  <a:moveTo>
                    <a:pt x="0" y="0"/>
                  </a:moveTo>
                  <a:lnTo>
                    <a:pt x="0" y="349316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1"/>
            <p:cNvSpPr/>
            <p:nvPr/>
          </p:nvSpPr>
          <p:spPr>
            <a:xfrm>
              <a:off x="3987417" y="3860181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2"/>
            <p:cNvSpPr/>
            <p:nvPr/>
          </p:nvSpPr>
          <p:spPr>
            <a:xfrm>
              <a:off x="2751685" y="3930234"/>
              <a:ext cx="2525463" cy="372604"/>
            </a:xfrm>
            <a:prstGeom prst="rect">
              <a:avLst/>
            </a:prstGeom>
            <a:solidFill>
              <a:srgbClr val="F0FAF0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3522311" y="4002196"/>
              <a:ext cx="984212" cy="959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Escriba el codigo final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54875" y="4112357"/>
              <a:ext cx="1119084" cy="95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o deje vacio (sin cambio)</a:t>
              </a:r>
            </a:p>
          </p:txBody>
        </p:sp>
        <p:sp>
          <p:nvSpPr>
            <p:cNvPr id="26" name="pl25"/>
            <p:cNvSpPr/>
            <p:nvPr/>
          </p:nvSpPr>
          <p:spPr>
            <a:xfrm>
              <a:off x="4014417" y="4302838"/>
              <a:ext cx="0" cy="349316"/>
            </a:xfrm>
            <a:custGeom>
              <a:avLst/>
              <a:gdLst/>
              <a:ahLst/>
              <a:cxnLst/>
              <a:rect l="0" t="0" r="0" b="0"/>
              <a:pathLst>
                <a:path h="349316">
                  <a:moveTo>
                    <a:pt x="0" y="0"/>
                  </a:moveTo>
                  <a:lnTo>
                    <a:pt x="0" y="349316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6"/>
            <p:cNvSpPr/>
            <p:nvPr/>
          </p:nvSpPr>
          <p:spPr>
            <a:xfrm>
              <a:off x="3987417" y="4605389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7"/>
            <p:cNvSpPr/>
            <p:nvPr/>
          </p:nvSpPr>
          <p:spPr>
            <a:xfrm>
              <a:off x="2751685" y="4675442"/>
              <a:ext cx="2525463" cy="372604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3489957" y="4755663"/>
              <a:ext cx="1048920" cy="890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Ejemplo: respuesta 'Otro'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511770" y="4857038"/>
              <a:ext cx="1005294" cy="891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-&gt; recodificar a codigo 5</a:t>
              </a:r>
            </a:p>
          </p:txBody>
        </p:sp>
        <p:sp>
          <p:nvSpPr>
            <p:cNvPr id="31" name="rc30"/>
            <p:cNvSpPr/>
            <p:nvPr/>
          </p:nvSpPr>
          <p:spPr>
            <a:xfrm>
              <a:off x="6838949" y="2369955"/>
              <a:ext cx="2326084" cy="419179"/>
            </a:xfrm>
            <a:prstGeom prst="rect">
              <a:avLst/>
            </a:prstGeom>
            <a:solidFill>
              <a:srgbClr val="DAE8FC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x31"/>
            <p:cNvSpPr/>
            <p:nvPr/>
          </p:nvSpPr>
          <p:spPr>
            <a:xfrm>
              <a:off x="7715946" y="2477443"/>
              <a:ext cx="572090" cy="82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Modo HIJO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327292" y="2596267"/>
              <a:ext cx="1349398" cy="808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Recodifica el texto abierto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8001991" y="2789134"/>
              <a:ext cx="0" cy="372604"/>
            </a:xfrm>
            <a:custGeom>
              <a:avLst/>
              <a:gdLst/>
              <a:ahLst/>
              <a:cxnLst/>
              <a:rect l="0" t="0" r="0" b="0"/>
              <a:pathLst>
                <a:path h="372604">
                  <a:moveTo>
                    <a:pt x="0" y="0"/>
                  </a:moveTo>
                  <a:lnTo>
                    <a:pt x="0" y="372604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g34"/>
            <p:cNvSpPr/>
            <p:nvPr/>
          </p:nvSpPr>
          <p:spPr>
            <a:xfrm>
              <a:off x="7974991" y="311497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5"/>
            <p:cNvSpPr/>
            <p:nvPr/>
          </p:nvSpPr>
          <p:spPr>
            <a:xfrm>
              <a:off x="6739259" y="3185026"/>
              <a:ext cx="2525463" cy="372604"/>
            </a:xfrm>
            <a:prstGeom prst="rect">
              <a:avLst/>
            </a:prstGeom>
            <a:solidFill>
              <a:srgbClr val="F0F7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x36"/>
            <p:cNvSpPr/>
            <p:nvPr/>
          </p:nvSpPr>
          <p:spPr>
            <a:xfrm>
              <a:off x="7594216" y="3276502"/>
              <a:ext cx="815550" cy="764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Columna editable: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7453515" y="3368335"/>
              <a:ext cx="1096951" cy="939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&lt;parent&gt;_&lt;alias&gt;_recod</a:t>
              </a:r>
            </a:p>
          </p:txBody>
        </p:sp>
        <p:sp>
          <p:nvSpPr>
            <p:cNvPr id="39" name="pl38"/>
            <p:cNvSpPr/>
            <p:nvPr/>
          </p:nvSpPr>
          <p:spPr>
            <a:xfrm>
              <a:off x="8001991" y="3557630"/>
              <a:ext cx="0" cy="349316"/>
            </a:xfrm>
            <a:custGeom>
              <a:avLst/>
              <a:gdLst/>
              <a:ahLst/>
              <a:cxnLst/>
              <a:rect l="0" t="0" r="0" b="0"/>
              <a:pathLst>
                <a:path h="349316">
                  <a:moveTo>
                    <a:pt x="0" y="0"/>
                  </a:moveTo>
                  <a:lnTo>
                    <a:pt x="0" y="349316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39"/>
            <p:cNvSpPr/>
            <p:nvPr/>
          </p:nvSpPr>
          <p:spPr>
            <a:xfrm>
              <a:off x="7974991" y="3860181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0"/>
            <p:cNvSpPr/>
            <p:nvPr/>
          </p:nvSpPr>
          <p:spPr>
            <a:xfrm>
              <a:off x="6739259" y="3930234"/>
              <a:ext cx="2525463" cy="372604"/>
            </a:xfrm>
            <a:prstGeom prst="rect">
              <a:avLst/>
            </a:prstGeom>
            <a:solidFill>
              <a:srgbClr val="F0F7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x41"/>
            <p:cNvSpPr/>
            <p:nvPr/>
          </p:nvSpPr>
          <p:spPr>
            <a:xfrm>
              <a:off x="7408657" y="4001257"/>
              <a:ext cx="1186667" cy="969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Categorizar respuestas de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7523915" y="4112259"/>
              <a:ext cx="956151" cy="952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texto libre en codigos</a:t>
              </a:r>
            </a:p>
          </p:txBody>
        </p:sp>
        <p:sp>
          <p:nvSpPr>
            <p:cNvPr id="44" name="pl43"/>
            <p:cNvSpPr/>
            <p:nvPr/>
          </p:nvSpPr>
          <p:spPr>
            <a:xfrm>
              <a:off x="8001991" y="4302838"/>
              <a:ext cx="0" cy="349316"/>
            </a:xfrm>
            <a:custGeom>
              <a:avLst/>
              <a:gdLst/>
              <a:ahLst/>
              <a:cxnLst/>
              <a:rect l="0" t="0" r="0" b="0"/>
              <a:pathLst>
                <a:path h="349316">
                  <a:moveTo>
                    <a:pt x="0" y="0"/>
                  </a:moveTo>
                  <a:lnTo>
                    <a:pt x="0" y="349316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4"/>
            <p:cNvSpPr/>
            <p:nvPr/>
          </p:nvSpPr>
          <p:spPr>
            <a:xfrm>
              <a:off x="7974991" y="4605389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5"/>
            <p:cNvSpPr/>
            <p:nvPr/>
          </p:nvSpPr>
          <p:spPr>
            <a:xfrm>
              <a:off x="6739259" y="4675442"/>
              <a:ext cx="2525463" cy="372604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7472278" y="4757269"/>
              <a:ext cx="1059425" cy="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Ejemplo: 'hospital central'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7499344" y="4857038"/>
              <a:ext cx="1005294" cy="891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-&gt; recodificar a codigo 3</a:t>
              </a:r>
            </a:p>
          </p:txBody>
        </p:sp>
        <p:sp>
          <p:nvSpPr>
            <p:cNvPr id="49" name="pl48"/>
            <p:cNvSpPr/>
            <p:nvPr/>
          </p:nvSpPr>
          <p:spPr>
            <a:xfrm>
              <a:off x="4014417" y="5048046"/>
              <a:ext cx="1993786" cy="279453"/>
            </a:xfrm>
            <a:custGeom>
              <a:avLst/>
              <a:gdLst/>
              <a:ahLst/>
              <a:cxnLst/>
              <a:rect l="0" t="0" r="0" b="0"/>
              <a:pathLst>
                <a:path w="1993786" h="279453">
                  <a:moveTo>
                    <a:pt x="0" y="0"/>
                  </a:moveTo>
                  <a:lnTo>
                    <a:pt x="1993786" y="279453"/>
                  </a:lnTo>
                </a:path>
              </a:pathLst>
            </a:custGeom>
            <a:ln w="16260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49"/>
            <p:cNvSpPr/>
            <p:nvPr/>
          </p:nvSpPr>
          <p:spPr>
            <a:xfrm>
              <a:off x="5968156" y="5300915"/>
              <a:ext cx="40048" cy="42781"/>
            </a:xfrm>
            <a:custGeom>
              <a:avLst/>
              <a:gdLst/>
              <a:ahLst/>
              <a:cxnLst/>
              <a:rect l="0" t="0" r="0" b="0"/>
              <a:pathLst>
                <a:path w="40048" h="42781">
                  <a:moveTo>
                    <a:pt x="0" y="42781"/>
                  </a:moveTo>
                  <a:lnTo>
                    <a:pt x="40048" y="26583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16260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0"/>
            <p:cNvSpPr/>
            <p:nvPr/>
          </p:nvSpPr>
          <p:spPr>
            <a:xfrm>
              <a:off x="6008204" y="5048046"/>
              <a:ext cx="1993786" cy="279453"/>
            </a:xfrm>
            <a:custGeom>
              <a:avLst/>
              <a:gdLst/>
              <a:ahLst/>
              <a:cxnLst/>
              <a:rect l="0" t="0" r="0" b="0"/>
              <a:pathLst>
                <a:path w="1993786" h="279453">
                  <a:moveTo>
                    <a:pt x="1993786" y="0"/>
                  </a:moveTo>
                  <a:lnTo>
                    <a:pt x="0" y="279453"/>
                  </a:lnTo>
                </a:path>
              </a:pathLst>
            </a:custGeom>
            <a:ln w="16260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51"/>
            <p:cNvSpPr/>
            <p:nvPr/>
          </p:nvSpPr>
          <p:spPr>
            <a:xfrm>
              <a:off x="6008204" y="5300915"/>
              <a:ext cx="40048" cy="42781"/>
            </a:xfrm>
            <a:custGeom>
              <a:avLst/>
              <a:gdLst/>
              <a:ahLst/>
              <a:cxnLst/>
              <a:rect l="0" t="0" r="0" b="0"/>
              <a:pathLst>
                <a:path w="40048" h="42781">
                  <a:moveTo>
                    <a:pt x="34051" y="0"/>
                  </a:moveTo>
                  <a:lnTo>
                    <a:pt x="0" y="26583"/>
                  </a:lnTo>
                  <a:lnTo>
                    <a:pt x="40048" y="42781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16260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2"/>
            <p:cNvSpPr/>
            <p:nvPr/>
          </p:nvSpPr>
          <p:spPr>
            <a:xfrm>
              <a:off x="4346715" y="5350787"/>
              <a:ext cx="3322978" cy="419179"/>
            </a:xfrm>
            <a:prstGeom prst="rect">
              <a:avLst/>
            </a:prstGeom>
            <a:solidFill>
              <a:srgbClr val="FCE5CD">
                <a:alpha val="100000"/>
              </a:srgbClr>
            </a:solidFill>
            <a:ln w="21681" cap="flat">
              <a:solidFill>
                <a:srgbClr val="C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53"/>
            <p:cNvSpPr/>
            <p:nvPr/>
          </p:nvSpPr>
          <p:spPr>
            <a:xfrm>
              <a:off x="4899673" y="5438743"/>
              <a:ext cx="2217062" cy="1021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Ambos modos: declarar nuevas categorias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4672435" y="5555026"/>
              <a:ext cx="2671537" cy="1029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en bloque auxiliar (nuevo_codigo + nueva_etiqueta)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select_one (padre) — Vista general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Modo padre: recodifica la variable original.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Columna editable: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Recodificación (código)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Escriba el código final deseado.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Deje vacío si no hay cambio.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Columna de referencia: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Selección (código) — valor original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Selección (label) — etiqueta original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Bloque auxiliar (derecha) para nuevas categorías.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Bloque auxiliar — Cómo declarar categorías nuevas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84073" y="1162878"/>
            <a:ext cx="8448263" cy="5068958"/>
            <a:chOff x="1784073" y="1162878"/>
            <a:chExt cx="8448263" cy="5068958"/>
          </a:xfrm>
        </p:grpSpPr>
        <p:sp>
          <p:nvSpPr>
            <p:cNvPr id="4" name="rc3"/>
            <p:cNvSpPr/>
            <p:nvPr/>
          </p:nvSpPr>
          <p:spPr>
            <a:xfrm>
              <a:off x="1784072" y="1162878"/>
              <a:ext cx="8448263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10598" y="1289403"/>
              <a:ext cx="8195212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2621753" y="1897472"/>
              <a:ext cx="6772902" cy="3891641"/>
            </a:xfrm>
            <a:prstGeom prst="rect">
              <a:avLst/>
            </a:prstGeom>
            <a:solidFill>
              <a:srgbClr val="FAFAFA">
                <a:alpha val="100000"/>
              </a:srgbClr>
            </a:solidFill>
            <a:ln w="13550" cap="flat">
              <a:solidFill>
                <a:srgbClr val="CCCCC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5872746" y="1897472"/>
              <a:ext cx="270916" cy="38916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x7"/>
            <p:cNvSpPr/>
            <p:nvPr/>
          </p:nvSpPr>
          <p:spPr>
            <a:xfrm>
              <a:off x="5821084" y="1704197"/>
              <a:ext cx="374240" cy="7714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 i="1">
                  <a:solidFill>
                    <a:srgbClr val="AAAAAA">
                      <a:alpha val="100000"/>
                    </a:srgbClr>
                  </a:solidFill>
                  <a:latin typeface="Helvetica"/>
                  <a:cs typeface="Helvetica"/>
                </a:rPr>
                <a:t>separador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3786528" y="1707972"/>
              <a:ext cx="921442" cy="825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ZONA PRINCIPAL</a:t>
              </a:r>
            </a:p>
          </p:txBody>
        </p:sp>
        <p:sp>
          <p:nvSpPr>
            <p:cNvPr id="10" name="rc9"/>
            <p:cNvSpPr/>
            <p:nvPr/>
          </p:nvSpPr>
          <p:spPr>
            <a:xfrm>
              <a:off x="2621753" y="2043409"/>
              <a:ext cx="1083664" cy="340518"/>
            </a:xfrm>
            <a:prstGeom prst="rect">
              <a:avLst/>
            </a:prstGeom>
            <a:solidFill>
              <a:srgbClr val="DDE3EA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3053067" y="2169756"/>
              <a:ext cx="221035" cy="763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_uuid</a:t>
              </a:r>
            </a:p>
          </p:txBody>
        </p:sp>
        <p:sp>
          <p:nvSpPr>
            <p:cNvPr id="12" name="rc11"/>
            <p:cNvSpPr/>
            <p:nvPr/>
          </p:nvSpPr>
          <p:spPr>
            <a:xfrm>
              <a:off x="3705417" y="2043409"/>
              <a:ext cx="1083664" cy="340518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99999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x12"/>
            <p:cNvSpPr/>
            <p:nvPr/>
          </p:nvSpPr>
          <p:spPr>
            <a:xfrm>
              <a:off x="4074902" y="2141392"/>
              <a:ext cx="344694" cy="602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Seleccion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136796" y="2208543"/>
              <a:ext cx="220906" cy="741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>
                  <a:solidFill>
                    <a:srgbClr val="555555">
                      <a:alpha val="100000"/>
                    </a:srgbClr>
                  </a:solidFill>
                  <a:latin typeface="Helvetica"/>
                  <a:cs typeface="Helvetica"/>
                </a:rPr>
                <a:t>(label)</a:t>
              </a:r>
            </a:p>
          </p:txBody>
        </p:sp>
        <p:sp>
          <p:nvSpPr>
            <p:cNvPr id="15" name="rc14"/>
            <p:cNvSpPr/>
            <p:nvPr/>
          </p:nvSpPr>
          <p:spPr>
            <a:xfrm>
              <a:off x="4789082" y="2043409"/>
              <a:ext cx="1083664" cy="340518"/>
            </a:xfrm>
            <a:prstGeom prst="rect">
              <a:avLst/>
            </a:prstGeom>
            <a:solidFill>
              <a:srgbClr val="C6EFCE">
                <a:alpha val="100000"/>
              </a:srgbClr>
            </a:solidFill>
            <a:ln w="13550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15"/>
            <p:cNvSpPr/>
            <p:nvPr/>
          </p:nvSpPr>
          <p:spPr>
            <a:xfrm>
              <a:off x="5165214" y="2169470"/>
              <a:ext cx="331399" cy="767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2E7D32">
                      <a:alpha val="100000"/>
                    </a:srgbClr>
                  </a:solidFill>
                  <a:latin typeface="Helvetica"/>
                  <a:cs typeface="Helvetica"/>
                </a:rPr>
                <a:t>*_recod</a:t>
              </a:r>
            </a:p>
          </p:txBody>
        </p:sp>
        <p:sp>
          <p:nvSpPr>
            <p:cNvPr id="17" name="rc16"/>
            <p:cNvSpPr/>
            <p:nvPr/>
          </p:nvSpPr>
          <p:spPr>
            <a:xfrm>
              <a:off x="2621753" y="2383927"/>
              <a:ext cx="1083664" cy="729682"/>
            </a:xfrm>
            <a:prstGeom prst="rect">
              <a:avLst/>
            </a:prstGeom>
            <a:solidFill>
              <a:srgbClr val="EFF3F7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3033001" y="2526715"/>
              <a:ext cx="261167" cy="533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abc-001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033001" y="2769943"/>
              <a:ext cx="261167" cy="533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abc-002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033001" y="3013170"/>
              <a:ext cx="261167" cy="533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abc-003</a:t>
              </a:r>
            </a:p>
          </p:txBody>
        </p:sp>
        <p:sp>
          <p:nvSpPr>
            <p:cNvPr id="21" name="rc20"/>
            <p:cNvSpPr/>
            <p:nvPr/>
          </p:nvSpPr>
          <p:spPr>
            <a:xfrm>
              <a:off x="3705417" y="2383927"/>
              <a:ext cx="1083664" cy="729682"/>
            </a:xfrm>
            <a:prstGeom prst="rect">
              <a:avLst/>
            </a:prstGeom>
            <a:solidFill>
              <a:srgbClr val="F7F7F8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x21"/>
            <p:cNvSpPr/>
            <p:nvPr/>
          </p:nvSpPr>
          <p:spPr>
            <a:xfrm>
              <a:off x="4215119" y="2525339"/>
              <a:ext cx="64259" cy="5476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Si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4176973" y="2768566"/>
              <a:ext cx="140552" cy="5476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Otro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4201057" y="3013347"/>
              <a:ext cx="92384" cy="532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No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4789082" y="2383927"/>
              <a:ext cx="1083664" cy="729682"/>
            </a:xfrm>
            <a:prstGeom prst="rect">
              <a:avLst/>
            </a:prstGeom>
            <a:solidFill>
              <a:srgbClr val="EAF7E6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x25"/>
            <p:cNvSpPr/>
            <p:nvPr/>
          </p:nvSpPr>
          <p:spPr>
            <a:xfrm>
              <a:off x="5280672" y="2763582"/>
              <a:ext cx="100482" cy="663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7266277" y="1704479"/>
              <a:ext cx="1005763" cy="8606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BLOQUE AUXILIAR</a:t>
              </a:r>
            </a:p>
          </p:txBody>
        </p:sp>
        <p:sp>
          <p:nvSpPr>
            <p:cNvPr id="28" name="rc27"/>
            <p:cNvSpPr/>
            <p:nvPr/>
          </p:nvSpPr>
          <p:spPr>
            <a:xfrm>
              <a:off x="6143662" y="2043409"/>
              <a:ext cx="1219122" cy="340518"/>
            </a:xfrm>
            <a:prstGeom prst="rect">
              <a:avLst/>
            </a:prstGeom>
            <a:solidFill>
              <a:srgbClr val="F4CCCC">
                <a:alpha val="100000"/>
              </a:srgbClr>
            </a:solidFill>
            <a:ln w="13550" cap="flat">
              <a:solidFill>
                <a:srgbClr val="C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6471549" y="2165295"/>
              <a:ext cx="563349" cy="782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nuevo_codigo</a:t>
              </a:r>
            </a:p>
          </p:txBody>
        </p:sp>
        <p:sp>
          <p:nvSpPr>
            <p:cNvPr id="30" name="rc29"/>
            <p:cNvSpPr/>
            <p:nvPr/>
          </p:nvSpPr>
          <p:spPr>
            <a:xfrm>
              <a:off x="7362785" y="2043409"/>
              <a:ext cx="2031870" cy="340518"/>
            </a:xfrm>
            <a:prstGeom prst="rect">
              <a:avLst/>
            </a:prstGeom>
            <a:solidFill>
              <a:srgbClr val="F4CCCC">
                <a:alpha val="100000"/>
              </a:srgbClr>
            </a:solidFill>
            <a:ln w="13550" cap="flat">
              <a:solidFill>
                <a:srgbClr val="C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x30"/>
            <p:cNvSpPr/>
            <p:nvPr/>
          </p:nvSpPr>
          <p:spPr>
            <a:xfrm>
              <a:off x="8076186" y="2165863"/>
              <a:ext cx="605067" cy="777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nueva_etiqueta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6143662" y="2383927"/>
              <a:ext cx="1219122" cy="340518"/>
            </a:xfrm>
            <a:prstGeom prst="rect">
              <a:avLst/>
            </a:prstGeom>
            <a:solidFill>
              <a:srgbClr val="FCE5CD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x32"/>
            <p:cNvSpPr/>
            <p:nvPr/>
          </p:nvSpPr>
          <p:spPr>
            <a:xfrm>
              <a:off x="6702982" y="2520354"/>
              <a:ext cx="100482" cy="663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34" name="rc33"/>
            <p:cNvSpPr/>
            <p:nvPr/>
          </p:nvSpPr>
          <p:spPr>
            <a:xfrm>
              <a:off x="7362785" y="2383927"/>
              <a:ext cx="2031870" cy="340518"/>
            </a:xfrm>
            <a:prstGeom prst="rect">
              <a:avLst/>
            </a:prstGeom>
            <a:solidFill>
              <a:srgbClr val="FCE5CD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x34"/>
            <p:cNvSpPr/>
            <p:nvPr/>
          </p:nvSpPr>
          <p:spPr>
            <a:xfrm>
              <a:off x="7997682" y="2505043"/>
              <a:ext cx="762076" cy="790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No aplica / No sabe</a:t>
              </a:r>
            </a:p>
          </p:txBody>
        </p:sp>
        <p:sp>
          <p:nvSpPr>
            <p:cNvPr id="36" name="rc35"/>
            <p:cNvSpPr/>
            <p:nvPr/>
          </p:nvSpPr>
          <p:spPr>
            <a:xfrm>
              <a:off x="6143662" y="2724446"/>
              <a:ext cx="3250993" cy="389164"/>
            </a:xfrm>
            <a:prstGeom prst="rect">
              <a:avLst/>
            </a:prstGeom>
            <a:solidFill>
              <a:srgbClr val="FFF8F0">
                <a:alpha val="100000"/>
              </a:srgbClr>
            </a:solidFill>
            <a:ln w="13550" cap="flat">
              <a:solidFill>
                <a:srgbClr val="DDDDD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x36"/>
            <p:cNvSpPr/>
            <p:nvPr/>
          </p:nvSpPr>
          <p:spPr>
            <a:xfrm>
              <a:off x="7258755" y="2872001"/>
              <a:ext cx="1020806" cy="75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5" i="1">
                  <a:solidFill>
                    <a:srgbClr val="999999">
                      <a:alpha val="100000"/>
                    </a:srgbClr>
                  </a:solidFill>
                  <a:latin typeface="Helvetica"/>
                  <a:cs typeface="Helvetica"/>
                </a:rPr>
                <a:t>(solo 1 fila por codigo nuevo)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5330914" y="2449066"/>
              <a:ext cx="1422309" cy="348347"/>
            </a:xfrm>
            <a:custGeom>
              <a:avLst/>
              <a:gdLst/>
              <a:ahLst/>
              <a:cxnLst/>
              <a:rect l="0" t="0" r="0" b="0"/>
              <a:pathLst>
                <a:path w="1422309" h="348347">
                  <a:moveTo>
                    <a:pt x="0" y="348347"/>
                  </a:moveTo>
                  <a:lnTo>
                    <a:pt x="1840" y="346933"/>
                  </a:lnTo>
                  <a:lnTo>
                    <a:pt x="12569" y="338689"/>
                  </a:lnTo>
                  <a:lnTo>
                    <a:pt x="34693" y="321692"/>
                  </a:lnTo>
                  <a:lnTo>
                    <a:pt x="64247" y="298984"/>
                  </a:lnTo>
                  <a:lnTo>
                    <a:pt x="94955" y="275399"/>
                  </a:lnTo>
                  <a:lnTo>
                    <a:pt x="123681" y="253617"/>
                  </a:lnTo>
                  <a:lnTo>
                    <a:pt x="150409" y="234054"/>
                  </a:lnTo>
                  <a:lnTo>
                    <a:pt x="175893" y="216375"/>
                  </a:lnTo>
                  <a:lnTo>
                    <a:pt x="201214" y="199906"/>
                  </a:lnTo>
                  <a:lnTo>
                    <a:pt x="204418" y="197898"/>
                  </a:lnTo>
                  <a:lnTo>
                    <a:pt x="230163" y="182332"/>
                  </a:lnTo>
                  <a:lnTo>
                    <a:pt x="255663" y="167852"/>
                  </a:lnTo>
                  <a:lnTo>
                    <a:pt x="280109" y="154772"/>
                  </a:lnTo>
                  <a:lnTo>
                    <a:pt x="303122" y="143055"/>
                  </a:lnTo>
                  <a:lnTo>
                    <a:pt x="325315" y="132029"/>
                  </a:lnTo>
                  <a:lnTo>
                    <a:pt x="348368" y="120822"/>
                  </a:lnTo>
                  <a:lnTo>
                    <a:pt x="373334" y="109280"/>
                  </a:lnTo>
                  <a:lnTo>
                    <a:pt x="400115" y="97696"/>
                  </a:lnTo>
                  <a:lnTo>
                    <a:pt x="428001" y="86523"/>
                  </a:lnTo>
                  <a:lnTo>
                    <a:pt x="431250" y="85280"/>
                  </a:lnTo>
                  <a:lnTo>
                    <a:pt x="459516" y="74979"/>
                  </a:lnTo>
                  <a:lnTo>
                    <a:pt x="487332" y="65694"/>
                  </a:lnTo>
                  <a:lnTo>
                    <a:pt x="513844" y="57581"/>
                  </a:lnTo>
                  <a:lnTo>
                    <a:pt x="538686" y="50528"/>
                  </a:lnTo>
                  <a:lnTo>
                    <a:pt x="562590" y="43994"/>
                  </a:lnTo>
                  <a:lnTo>
                    <a:pt x="587373" y="37449"/>
                  </a:lnTo>
                  <a:lnTo>
                    <a:pt x="614099" y="30945"/>
                  </a:lnTo>
                  <a:lnTo>
                    <a:pt x="642612" y="24750"/>
                  </a:lnTo>
                  <a:lnTo>
                    <a:pt x="672131" y="19172"/>
                  </a:lnTo>
                  <a:lnTo>
                    <a:pt x="675558" y="18580"/>
                  </a:lnTo>
                  <a:lnTo>
                    <a:pt x="705281" y="13930"/>
                  </a:lnTo>
                  <a:lnTo>
                    <a:pt x="734366" y="10191"/>
                  </a:lnTo>
                  <a:lnTo>
                    <a:pt x="761946" y="7349"/>
                  </a:lnTo>
                  <a:lnTo>
                    <a:pt x="787682" y="5225"/>
                  </a:lnTo>
                  <a:lnTo>
                    <a:pt x="812399" y="3430"/>
                  </a:lnTo>
                  <a:lnTo>
                    <a:pt x="837979" y="1794"/>
                  </a:lnTo>
                  <a:lnTo>
                    <a:pt x="865457" y="572"/>
                  </a:lnTo>
                  <a:lnTo>
                    <a:pt x="894630" y="0"/>
                  </a:lnTo>
                  <a:lnTo>
                    <a:pt x="924670" y="226"/>
                  </a:lnTo>
                  <a:lnTo>
                    <a:pt x="928148" y="306"/>
                  </a:lnTo>
                  <a:lnTo>
                    <a:pt x="958210" y="1483"/>
                  </a:lnTo>
                  <a:lnTo>
                    <a:pt x="987469" y="3430"/>
                  </a:lnTo>
                  <a:lnTo>
                    <a:pt x="1015078" y="5967"/>
                  </a:lnTo>
                  <a:lnTo>
                    <a:pt x="1040741" y="8852"/>
                  </a:lnTo>
                  <a:lnTo>
                    <a:pt x="1065338" y="11864"/>
                  </a:lnTo>
                  <a:lnTo>
                    <a:pt x="1090753" y="15197"/>
                  </a:lnTo>
                  <a:lnTo>
                    <a:pt x="1117950" y="19304"/>
                  </a:lnTo>
                  <a:lnTo>
                    <a:pt x="1146685" y="24375"/>
                  </a:lnTo>
                  <a:lnTo>
                    <a:pt x="1176116" y="30397"/>
                  </a:lnTo>
                  <a:lnTo>
                    <a:pt x="1179512" y="31148"/>
                  </a:lnTo>
                  <a:lnTo>
                    <a:pt x="1208870" y="38151"/>
                  </a:lnTo>
                  <a:lnTo>
                    <a:pt x="1238643" y="46204"/>
                  </a:lnTo>
                  <a:lnTo>
                    <a:pt x="1270067" y="55591"/>
                  </a:lnTo>
                  <a:lnTo>
                    <a:pt x="1304053" y="66421"/>
                  </a:lnTo>
                  <a:lnTo>
                    <a:pt x="1340630" y="78379"/>
                  </a:lnTo>
                  <a:lnTo>
                    <a:pt x="1376622" y="90162"/>
                  </a:lnTo>
                  <a:lnTo>
                    <a:pt x="1404633" y="99333"/>
                  </a:lnTo>
                  <a:lnTo>
                    <a:pt x="1419221" y="104109"/>
                  </a:lnTo>
                  <a:lnTo>
                    <a:pt x="1422304" y="105118"/>
                  </a:lnTo>
                  <a:lnTo>
                    <a:pt x="1422309" y="105120"/>
                  </a:lnTo>
                </a:path>
              </a:pathLst>
            </a:custGeom>
            <a:ln w="21681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38"/>
            <p:cNvSpPr/>
            <p:nvPr/>
          </p:nvSpPr>
          <p:spPr>
            <a:xfrm>
              <a:off x="6700378" y="2513976"/>
              <a:ext cx="52844" cy="51319"/>
            </a:xfrm>
            <a:custGeom>
              <a:avLst/>
              <a:gdLst/>
              <a:ahLst/>
              <a:cxnLst/>
              <a:rect l="0" t="0" r="0" b="0"/>
              <a:pathLst>
                <a:path w="52844" h="51319">
                  <a:moveTo>
                    <a:pt x="0" y="51319"/>
                  </a:moveTo>
                  <a:lnTo>
                    <a:pt x="52844" y="40210"/>
                  </a:lnTo>
                  <a:lnTo>
                    <a:pt x="16801" y="0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21681" cap="flat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39"/>
            <p:cNvSpPr/>
            <p:nvPr/>
          </p:nvSpPr>
          <p:spPr>
            <a:xfrm>
              <a:off x="5584330" y="3199663"/>
              <a:ext cx="983205" cy="314349"/>
            </a:xfrm>
            <a:custGeom>
              <a:avLst/>
              <a:gdLst/>
              <a:ahLst/>
              <a:cxnLst/>
              <a:rect l="0" t="0" r="0" b="0"/>
              <a:pathLst>
                <a:path w="983205" h="314349">
                  <a:moveTo>
                    <a:pt x="16260" y="314349"/>
                  </a:moveTo>
                  <a:lnTo>
                    <a:pt x="966944" y="314349"/>
                  </a:lnTo>
                  <a:lnTo>
                    <a:pt x="966289" y="314336"/>
                  </a:lnTo>
                  <a:lnTo>
                    <a:pt x="968904" y="314231"/>
                  </a:lnTo>
                  <a:lnTo>
                    <a:pt x="971468" y="313707"/>
                  </a:lnTo>
                  <a:lnTo>
                    <a:pt x="973915" y="312779"/>
                  </a:lnTo>
                  <a:lnTo>
                    <a:pt x="976181" y="311471"/>
                  </a:lnTo>
                  <a:lnTo>
                    <a:pt x="978208" y="309816"/>
                  </a:lnTo>
                  <a:lnTo>
                    <a:pt x="979944" y="307857"/>
                  </a:lnTo>
                  <a:lnTo>
                    <a:pt x="981342" y="305645"/>
                  </a:lnTo>
                  <a:lnTo>
                    <a:pt x="982368" y="303238"/>
                  </a:lnTo>
                  <a:lnTo>
                    <a:pt x="982994" y="300697"/>
                  </a:lnTo>
                  <a:lnTo>
                    <a:pt x="983205" y="298089"/>
                  </a:lnTo>
                  <a:lnTo>
                    <a:pt x="983205" y="16260"/>
                  </a:lnTo>
                  <a:lnTo>
                    <a:pt x="982994" y="13652"/>
                  </a:lnTo>
                  <a:lnTo>
                    <a:pt x="982368" y="11111"/>
                  </a:lnTo>
                  <a:lnTo>
                    <a:pt x="981342" y="8704"/>
                  </a:lnTo>
                  <a:lnTo>
                    <a:pt x="979944" y="6492"/>
                  </a:lnTo>
                  <a:lnTo>
                    <a:pt x="978208" y="4533"/>
                  </a:lnTo>
                  <a:lnTo>
                    <a:pt x="976181" y="2878"/>
                  </a:lnTo>
                  <a:lnTo>
                    <a:pt x="973915" y="1569"/>
                  </a:lnTo>
                  <a:lnTo>
                    <a:pt x="971468" y="642"/>
                  </a:lnTo>
                  <a:lnTo>
                    <a:pt x="968904" y="118"/>
                  </a:lnTo>
                  <a:lnTo>
                    <a:pt x="966944" y="0"/>
                  </a:lnTo>
                  <a:lnTo>
                    <a:pt x="16260" y="0"/>
                  </a:lnTo>
                  <a:lnTo>
                    <a:pt x="18220" y="118"/>
                  </a:lnTo>
                  <a:lnTo>
                    <a:pt x="15605" y="13"/>
                  </a:lnTo>
                  <a:lnTo>
                    <a:pt x="13008" y="328"/>
                  </a:lnTo>
                  <a:lnTo>
                    <a:pt x="10494" y="1056"/>
                  </a:lnTo>
                  <a:lnTo>
                    <a:pt x="8130" y="2178"/>
                  </a:lnTo>
                  <a:lnTo>
                    <a:pt x="5976" y="3665"/>
                  </a:lnTo>
                  <a:lnTo>
                    <a:pt x="4089" y="5477"/>
                  </a:lnTo>
                  <a:lnTo>
                    <a:pt x="2517" y="7569"/>
                  </a:lnTo>
                  <a:lnTo>
                    <a:pt x="1301" y="9887"/>
                  </a:lnTo>
                  <a:lnTo>
                    <a:pt x="472" y="12369"/>
                  </a:lnTo>
                  <a:lnTo>
                    <a:pt x="52" y="14952"/>
                  </a:lnTo>
                  <a:lnTo>
                    <a:pt x="0" y="16260"/>
                  </a:lnTo>
                  <a:lnTo>
                    <a:pt x="0" y="298089"/>
                  </a:lnTo>
                  <a:lnTo>
                    <a:pt x="52" y="296780"/>
                  </a:lnTo>
                  <a:lnTo>
                    <a:pt x="52" y="299397"/>
                  </a:lnTo>
                  <a:lnTo>
                    <a:pt x="472" y="301980"/>
                  </a:lnTo>
                  <a:lnTo>
                    <a:pt x="1301" y="304462"/>
                  </a:lnTo>
                  <a:lnTo>
                    <a:pt x="2517" y="306779"/>
                  </a:lnTo>
                  <a:lnTo>
                    <a:pt x="4089" y="308871"/>
                  </a:lnTo>
                  <a:lnTo>
                    <a:pt x="5976" y="310684"/>
                  </a:lnTo>
                  <a:lnTo>
                    <a:pt x="8130" y="312171"/>
                  </a:lnTo>
                  <a:lnTo>
                    <a:pt x="10494" y="313293"/>
                  </a:lnTo>
                  <a:lnTo>
                    <a:pt x="13008" y="314021"/>
                  </a:lnTo>
                  <a:lnTo>
                    <a:pt x="15605" y="314336"/>
                  </a:lnTo>
                  <a:close/>
                </a:path>
              </a:pathLst>
            </a:custGeom>
            <a:solidFill>
              <a:srgbClr val="FFF8E1">
                <a:alpha val="100000"/>
              </a:srgbClr>
            </a:solidFill>
            <a:ln w="6775" cap="rnd">
              <a:solidFill>
                <a:srgbClr val="C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x40"/>
            <p:cNvSpPr/>
            <p:nvPr/>
          </p:nvSpPr>
          <p:spPr>
            <a:xfrm>
              <a:off x="5664320" y="3206694"/>
              <a:ext cx="823226" cy="850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El codigo 99 usado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5611432" y="3312639"/>
              <a:ext cx="929002" cy="767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en *_recod se declara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639243" y="3402441"/>
              <a:ext cx="873380" cy="844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1">
                  <a:solidFill>
                    <a:srgbClr val="C00000">
                      <a:alpha val="100000"/>
                    </a:srgbClr>
                  </a:solidFill>
                  <a:latin typeface="Helvetica"/>
                  <a:cs typeface="Helvetica"/>
                </a:rPr>
                <a:t>aqui con su etiqueta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2621753" y="4086521"/>
              <a:ext cx="6772902" cy="1556656"/>
            </a:xfrm>
            <a:prstGeom prst="rect">
              <a:avLst/>
            </a:prstGeom>
            <a:solidFill>
              <a:srgbClr val="FFFFF0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5294933" y="4213801"/>
              <a:ext cx="1426542" cy="1089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Reglas del bloque auxiliar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960398" y="4268634"/>
              <a:ext cx="2344738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1. Declare cada codigo nuevo UNA SOLA VEZ (una fila)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2960398" y="4392650"/>
              <a:ext cx="2256291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2. Cada codigo debe tener exactamente UNA etiqueta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60398" y="4516665"/>
              <a:ext cx="2517363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3. Si el codigo ya existe en el catalogo original, no lo declare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2960398" y="4640680"/>
              <a:ext cx="2721092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4. Si un codigo tiene 2 etiquetas distintas, el adaptador dara error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2960398" y="4764696"/>
              <a:ext cx="2496169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5. Aplica a: select_one, text e integer (NO a select_multiple)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select_one — Bloque auxiliar (ejemplo real)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Bloque auxiliar (derecha de la hoja):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Dos columnas: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nuevo_codigo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código numérico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</a:t>
            </a: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nueva_etiqueta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texto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Declare cada código UNA SOLA VEZ.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C00000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Si un código tiene 2 etiquetas, el adaptador dará error.</a:t>
            </a:r>
          </a:p>
        </p:txBody>
      </p:sp>
      <p:pic>
        <p:nvPicPr>
          <p:cNvPr id="4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6173304" y="1088800"/>
            <a:ext cx="5584687" cy="51285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select_one (hijo) — Texto asociado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Modo hijo: recodifica el texto abierto.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Se usa cuando 'Otro' tiene texto libre.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La columna *_recod agrupa respuestas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 texto en categorías.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El bloque auxiliar funciona igual: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nuevo_codigo + nueva_etiqueta.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Diferencia: aquí se recodifica el texto,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no la variable padre.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Tipos: text e integer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Preguntas abiertas de texto libre y numéricas
Colores: amarillo (#FFF2CC) y morado (#E6D9F2)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text e integer — Proceso comparado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60875" y="1162878"/>
            <a:ext cx="8294659" cy="5068958"/>
            <a:chOff x="1860875" y="1162878"/>
            <a:chExt cx="8294659" cy="5068958"/>
          </a:xfrm>
        </p:grpSpPr>
        <p:sp>
          <p:nvSpPr>
            <p:cNvPr id="4" name="rc3"/>
            <p:cNvSpPr/>
            <p:nvPr/>
          </p:nvSpPr>
          <p:spPr>
            <a:xfrm>
              <a:off x="1860875" y="1162878"/>
              <a:ext cx="8294658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987400" y="1289403"/>
              <a:ext cx="8041607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3083983" y="1558631"/>
              <a:ext cx="2193165" cy="402583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6"/>
            <p:cNvSpPr/>
            <p:nvPr/>
          </p:nvSpPr>
          <p:spPr>
            <a:xfrm>
              <a:off x="4052047" y="1711719"/>
              <a:ext cx="25703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text</a:t>
              </a:r>
            </a:p>
          </p:txBody>
        </p:sp>
        <p:sp>
          <p:nvSpPr>
            <p:cNvPr id="8" name="rc7"/>
            <p:cNvSpPr/>
            <p:nvPr/>
          </p:nvSpPr>
          <p:spPr>
            <a:xfrm>
              <a:off x="6739259" y="1558631"/>
              <a:ext cx="2193165" cy="402583"/>
            </a:xfrm>
            <a:prstGeom prst="rect">
              <a:avLst/>
            </a:prstGeom>
            <a:solidFill>
              <a:srgbClr val="E6D9F2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x8"/>
            <p:cNvSpPr/>
            <p:nvPr/>
          </p:nvSpPr>
          <p:spPr>
            <a:xfrm>
              <a:off x="7594895" y="1675796"/>
              <a:ext cx="481894" cy="1361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integer</a:t>
              </a:r>
            </a:p>
          </p:txBody>
        </p:sp>
        <p:sp>
          <p:nvSpPr>
            <p:cNvPr id="10" name="pl9"/>
            <p:cNvSpPr/>
            <p:nvPr/>
          </p:nvSpPr>
          <p:spPr>
            <a:xfrm>
              <a:off x="4180566" y="1961214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153566" y="2291871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7835842" y="1961214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7808842" y="2291871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3"/>
            <p:cNvSpPr/>
            <p:nvPr/>
          </p:nvSpPr>
          <p:spPr>
            <a:xfrm>
              <a:off x="3010878" y="2363798"/>
              <a:ext cx="2339376" cy="402583"/>
            </a:xfrm>
            <a:prstGeom prst="rect">
              <a:avLst/>
            </a:prstGeom>
            <a:solidFill>
              <a:srgbClr val="FFFBEF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x14"/>
            <p:cNvSpPr/>
            <p:nvPr/>
          </p:nvSpPr>
          <p:spPr>
            <a:xfrm>
              <a:off x="3609686" y="2451787"/>
              <a:ext cx="1141760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1. Leer respuesta original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3570336" y="2561603"/>
              <a:ext cx="1220459" cy="944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(texto libre del encuestado)</a:t>
              </a:r>
            </a:p>
          </p:txBody>
        </p:sp>
        <p:sp>
          <p:nvSpPr>
            <p:cNvPr id="17" name="rc16"/>
            <p:cNvSpPr/>
            <p:nvPr/>
          </p:nvSpPr>
          <p:spPr>
            <a:xfrm>
              <a:off x="6666154" y="2363798"/>
              <a:ext cx="2339376" cy="402583"/>
            </a:xfrm>
            <a:prstGeom prst="rect">
              <a:avLst/>
            </a:prstGeom>
            <a:solidFill>
              <a:srgbClr val="F5EFFA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x17"/>
            <p:cNvSpPr/>
            <p:nvPr/>
          </p:nvSpPr>
          <p:spPr>
            <a:xfrm>
              <a:off x="7377478" y="2451787"/>
              <a:ext cx="916728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1. Leer valor original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461884" y="2561603"/>
              <a:ext cx="747916" cy="944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(numero abierto)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4180566" y="2766382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0"/>
            <p:cNvSpPr/>
            <p:nvPr/>
          </p:nvSpPr>
          <p:spPr>
            <a:xfrm>
              <a:off x="4153566" y="3097039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7835842" y="2766382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2"/>
            <p:cNvSpPr/>
            <p:nvPr/>
          </p:nvSpPr>
          <p:spPr>
            <a:xfrm>
              <a:off x="7808842" y="3097039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3"/>
            <p:cNvSpPr/>
            <p:nvPr/>
          </p:nvSpPr>
          <p:spPr>
            <a:xfrm>
              <a:off x="3010878" y="3168965"/>
              <a:ext cx="2339376" cy="402583"/>
            </a:xfrm>
            <a:prstGeom prst="rect">
              <a:avLst/>
            </a:prstGeom>
            <a:solidFill>
              <a:srgbClr val="FFFBEF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x24"/>
            <p:cNvSpPr/>
            <p:nvPr/>
          </p:nvSpPr>
          <p:spPr>
            <a:xfrm>
              <a:off x="3719337" y="3256708"/>
              <a:ext cx="922458" cy="952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2. Asignar un codigo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719312" y="3375712"/>
              <a:ext cx="922508" cy="8546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en &lt;variable&gt;_recod</a:t>
              </a:r>
            </a:p>
          </p:txBody>
        </p:sp>
        <p:sp>
          <p:nvSpPr>
            <p:cNvPr id="27" name="rc26"/>
            <p:cNvSpPr/>
            <p:nvPr/>
          </p:nvSpPr>
          <p:spPr>
            <a:xfrm>
              <a:off x="6666154" y="3168965"/>
              <a:ext cx="2339376" cy="402583"/>
            </a:xfrm>
            <a:prstGeom prst="rect">
              <a:avLst/>
            </a:prstGeom>
            <a:solidFill>
              <a:srgbClr val="F5EFFA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x27"/>
            <p:cNvSpPr/>
            <p:nvPr/>
          </p:nvSpPr>
          <p:spPr>
            <a:xfrm>
              <a:off x="7374613" y="3256708"/>
              <a:ext cx="922458" cy="952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2. Asignar un codigo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7374588" y="3375712"/>
              <a:ext cx="922508" cy="8546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en &lt;variable&gt;_recod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4180566" y="3571549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0"/>
            <p:cNvSpPr/>
            <p:nvPr/>
          </p:nvSpPr>
          <p:spPr>
            <a:xfrm>
              <a:off x="4153566" y="3902206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1"/>
            <p:cNvSpPr/>
            <p:nvPr/>
          </p:nvSpPr>
          <p:spPr>
            <a:xfrm>
              <a:off x="7835842" y="3571549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2"/>
            <p:cNvSpPr/>
            <p:nvPr/>
          </p:nvSpPr>
          <p:spPr>
            <a:xfrm>
              <a:off x="7808842" y="3902206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3"/>
            <p:cNvSpPr/>
            <p:nvPr/>
          </p:nvSpPr>
          <p:spPr>
            <a:xfrm>
              <a:off x="3010878" y="3974133"/>
              <a:ext cx="2339376" cy="402583"/>
            </a:xfrm>
            <a:prstGeom prst="rect">
              <a:avLst/>
            </a:prstGeom>
            <a:solidFill>
              <a:srgbClr val="FCE5CD">
                <a:alpha val="100000"/>
              </a:srgbClr>
            </a:solidFill>
            <a:ln w="21681" cap="flat">
              <a:solidFill>
                <a:srgbClr val="C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x34"/>
            <p:cNvSpPr/>
            <p:nvPr/>
          </p:nvSpPr>
          <p:spPr>
            <a:xfrm>
              <a:off x="3783981" y="4060146"/>
              <a:ext cx="793170" cy="969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3. Codigo nuevo?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595631" y="4172432"/>
              <a:ext cx="1169870" cy="939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Declare en bloque auxiliar</a:t>
              </a:r>
            </a:p>
          </p:txBody>
        </p:sp>
        <p:sp>
          <p:nvSpPr>
            <p:cNvPr id="37" name="rc36"/>
            <p:cNvSpPr/>
            <p:nvPr/>
          </p:nvSpPr>
          <p:spPr>
            <a:xfrm>
              <a:off x="6666154" y="3974133"/>
              <a:ext cx="2339376" cy="402583"/>
            </a:xfrm>
            <a:prstGeom prst="rect">
              <a:avLst/>
            </a:prstGeom>
            <a:solidFill>
              <a:srgbClr val="FCE5CD">
                <a:alpha val="100000"/>
              </a:srgbClr>
            </a:solidFill>
            <a:ln w="21681" cap="flat">
              <a:solidFill>
                <a:srgbClr val="C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x37"/>
            <p:cNvSpPr/>
            <p:nvPr/>
          </p:nvSpPr>
          <p:spPr>
            <a:xfrm>
              <a:off x="7439257" y="4060146"/>
              <a:ext cx="793170" cy="969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3. Codigo nuevo?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7250907" y="4172432"/>
              <a:ext cx="1169870" cy="939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Declare en bloque auxiliar</a:t>
              </a:r>
            </a:p>
          </p:txBody>
        </p:sp>
        <p:sp>
          <p:nvSpPr>
            <p:cNvPr id="40" name="pl39"/>
            <p:cNvSpPr/>
            <p:nvPr/>
          </p:nvSpPr>
          <p:spPr>
            <a:xfrm>
              <a:off x="4180566" y="4376716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g40"/>
            <p:cNvSpPr/>
            <p:nvPr/>
          </p:nvSpPr>
          <p:spPr>
            <a:xfrm>
              <a:off x="4153566" y="4707373"/>
              <a:ext cx="53999" cy="46765"/>
            </a:xfrm>
            <a:custGeom>
              <a:avLst/>
              <a:gdLst/>
              <a:ahLst/>
              <a:cxnLst/>
              <a:rect l="0" t="0" r="0" b="0"/>
              <a:pathLst>
                <a:path w="53999" h="46765">
                  <a:moveTo>
                    <a:pt x="0" y="0"/>
                  </a:moveTo>
                  <a:lnTo>
                    <a:pt x="26999" y="46765"/>
                  </a:lnTo>
                  <a:lnTo>
                    <a:pt x="53999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7835842" y="4376716"/>
              <a:ext cx="0" cy="377422"/>
            </a:xfrm>
            <a:custGeom>
              <a:avLst/>
              <a:gdLst/>
              <a:ahLst/>
              <a:cxnLst/>
              <a:rect l="0" t="0" r="0" b="0"/>
              <a:pathLst>
                <a:path h="377422">
                  <a:moveTo>
                    <a:pt x="0" y="0"/>
                  </a:moveTo>
                  <a:lnTo>
                    <a:pt x="0" y="37742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g42"/>
            <p:cNvSpPr/>
            <p:nvPr/>
          </p:nvSpPr>
          <p:spPr>
            <a:xfrm>
              <a:off x="7808842" y="4707373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6999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3"/>
            <p:cNvSpPr/>
            <p:nvPr/>
          </p:nvSpPr>
          <p:spPr>
            <a:xfrm>
              <a:off x="2901219" y="4779300"/>
              <a:ext cx="2558693" cy="503229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4011861" y="4841026"/>
              <a:ext cx="337410" cy="804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Ejemplo: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3744511" y="4933587"/>
              <a:ext cx="872109" cy="816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'Falta de agua potable'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3952767" y="5027249"/>
              <a:ext cx="455597" cy="816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-&gt; codigo: 3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3555014" y="5121122"/>
              <a:ext cx="1251103" cy="8138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-&gt; etiqueta: Agua y saneamiento</a:t>
              </a:r>
            </a:p>
          </p:txBody>
        </p:sp>
        <p:sp>
          <p:nvSpPr>
            <p:cNvPr id="49" name="rc48"/>
            <p:cNvSpPr/>
            <p:nvPr/>
          </p:nvSpPr>
          <p:spPr>
            <a:xfrm>
              <a:off x="6556495" y="4779300"/>
              <a:ext cx="2558693" cy="503229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49"/>
            <p:cNvSpPr/>
            <p:nvPr/>
          </p:nvSpPr>
          <p:spPr>
            <a:xfrm>
              <a:off x="7667137" y="4841026"/>
              <a:ext cx="337410" cy="804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Ejemplo: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7636923" y="4951160"/>
              <a:ext cx="397837" cy="6402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Edad = 47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7608043" y="5027249"/>
              <a:ext cx="455597" cy="816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-&gt; codigo: 3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7379017" y="5122223"/>
              <a:ext cx="913650" cy="802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 i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-&gt; etiqueta: 40-49 anios</a:t>
              </a:r>
            </a:p>
          </p:txBody>
        </p:sp>
        <p:sp>
          <p:nvSpPr>
            <p:cNvPr id="54" name="pg53"/>
            <p:cNvSpPr/>
            <p:nvPr/>
          </p:nvSpPr>
          <p:spPr>
            <a:xfrm>
              <a:off x="6794473" y="5510247"/>
              <a:ext cx="2082738" cy="249086"/>
            </a:xfrm>
            <a:custGeom>
              <a:avLst/>
              <a:gdLst/>
              <a:ahLst/>
              <a:cxnLst/>
              <a:rect l="0" t="0" r="0" b="0"/>
              <a:pathLst>
                <a:path w="2082738" h="249086">
                  <a:moveTo>
                    <a:pt x="16260" y="249086"/>
                  </a:moveTo>
                  <a:lnTo>
                    <a:pt x="2066477" y="249086"/>
                  </a:lnTo>
                  <a:lnTo>
                    <a:pt x="2065822" y="249073"/>
                  </a:lnTo>
                  <a:lnTo>
                    <a:pt x="2068437" y="248967"/>
                  </a:lnTo>
                  <a:lnTo>
                    <a:pt x="2071001" y="248444"/>
                  </a:lnTo>
                  <a:lnTo>
                    <a:pt x="2073448" y="247516"/>
                  </a:lnTo>
                  <a:lnTo>
                    <a:pt x="2075714" y="246207"/>
                  </a:lnTo>
                  <a:lnTo>
                    <a:pt x="2077741" y="244552"/>
                  </a:lnTo>
                  <a:lnTo>
                    <a:pt x="2079476" y="242594"/>
                  </a:lnTo>
                  <a:lnTo>
                    <a:pt x="2080875" y="240382"/>
                  </a:lnTo>
                  <a:lnTo>
                    <a:pt x="2081901" y="237974"/>
                  </a:lnTo>
                  <a:lnTo>
                    <a:pt x="2082527" y="235433"/>
                  </a:lnTo>
                  <a:lnTo>
                    <a:pt x="2082738" y="232825"/>
                  </a:lnTo>
                  <a:lnTo>
                    <a:pt x="2082738" y="16260"/>
                  </a:lnTo>
                  <a:lnTo>
                    <a:pt x="2082527" y="13652"/>
                  </a:lnTo>
                  <a:lnTo>
                    <a:pt x="2081901" y="11111"/>
                  </a:lnTo>
                  <a:lnTo>
                    <a:pt x="2080875" y="8704"/>
                  </a:lnTo>
                  <a:lnTo>
                    <a:pt x="2079476" y="6492"/>
                  </a:lnTo>
                  <a:lnTo>
                    <a:pt x="2077741" y="4533"/>
                  </a:lnTo>
                  <a:lnTo>
                    <a:pt x="2075714" y="2878"/>
                  </a:lnTo>
                  <a:lnTo>
                    <a:pt x="2073448" y="1569"/>
                  </a:lnTo>
                  <a:lnTo>
                    <a:pt x="2071001" y="642"/>
                  </a:lnTo>
                  <a:lnTo>
                    <a:pt x="2068437" y="118"/>
                  </a:lnTo>
                  <a:lnTo>
                    <a:pt x="2066477" y="0"/>
                  </a:lnTo>
                  <a:lnTo>
                    <a:pt x="16260" y="0"/>
                  </a:lnTo>
                  <a:lnTo>
                    <a:pt x="18220" y="118"/>
                  </a:lnTo>
                  <a:lnTo>
                    <a:pt x="15605" y="13"/>
                  </a:lnTo>
                  <a:lnTo>
                    <a:pt x="13008" y="328"/>
                  </a:lnTo>
                  <a:lnTo>
                    <a:pt x="10494" y="1056"/>
                  </a:lnTo>
                  <a:lnTo>
                    <a:pt x="8130" y="2178"/>
                  </a:lnTo>
                  <a:lnTo>
                    <a:pt x="5976" y="3665"/>
                  </a:lnTo>
                  <a:lnTo>
                    <a:pt x="4089" y="5477"/>
                  </a:lnTo>
                  <a:lnTo>
                    <a:pt x="2517" y="7569"/>
                  </a:lnTo>
                  <a:lnTo>
                    <a:pt x="1301" y="9887"/>
                  </a:lnTo>
                  <a:lnTo>
                    <a:pt x="472" y="12369"/>
                  </a:lnTo>
                  <a:lnTo>
                    <a:pt x="52" y="14952"/>
                  </a:lnTo>
                  <a:lnTo>
                    <a:pt x="0" y="16260"/>
                  </a:lnTo>
                  <a:lnTo>
                    <a:pt x="0" y="232825"/>
                  </a:lnTo>
                  <a:lnTo>
                    <a:pt x="52" y="231517"/>
                  </a:lnTo>
                  <a:lnTo>
                    <a:pt x="52" y="234133"/>
                  </a:lnTo>
                  <a:lnTo>
                    <a:pt x="472" y="236716"/>
                  </a:lnTo>
                  <a:lnTo>
                    <a:pt x="1301" y="239199"/>
                  </a:lnTo>
                  <a:lnTo>
                    <a:pt x="2517" y="241516"/>
                  </a:lnTo>
                  <a:lnTo>
                    <a:pt x="4089" y="243608"/>
                  </a:lnTo>
                  <a:lnTo>
                    <a:pt x="5976" y="245421"/>
                  </a:lnTo>
                  <a:lnTo>
                    <a:pt x="8130" y="246907"/>
                  </a:lnTo>
                  <a:lnTo>
                    <a:pt x="10494" y="248029"/>
                  </a:lnTo>
                  <a:lnTo>
                    <a:pt x="13008" y="248757"/>
                  </a:lnTo>
                  <a:lnTo>
                    <a:pt x="15605" y="249073"/>
                  </a:lnTo>
                  <a:close/>
                </a:path>
              </a:pathLst>
            </a:custGeom>
            <a:solidFill>
              <a:srgbClr val="F5EFFA">
                <a:alpha val="100000"/>
              </a:srgbClr>
            </a:solidFill>
            <a:ln w="6775" cap="rnd">
              <a:solidFill>
                <a:srgbClr val="5B2C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tx54"/>
            <p:cNvSpPr/>
            <p:nvPr/>
          </p:nvSpPr>
          <p:spPr>
            <a:xfrm>
              <a:off x="6821574" y="5515735"/>
              <a:ext cx="2028535" cy="8641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5B2C6F">
                      <a:alpha val="100000"/>
                    </a:srgbClr>
                  </a:solidFill>
                  <a:latin typeface="Helvetica"/>
                  <a:cs typeface="Helvetica"/>
                </a:rPr>
                <a:t>Si dos variables integer usan el mismo diccionario,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6871705" y="5648379"/>
              <a:ext cx="1928273" cy="838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5B2C6F">
                      <a:alpha val="100000"/>
                    </a:srgbClr>
                  </a:solidFill>
                  <a:latin typeface="Helvetica"/>
                  <a:cs typeface="Helvetica"/>
                </a:rPr>
                <a:t>el adaptador comparte la lista automaticamente.</a:t>
              </a:r>
            </a:p>
          </p:txBody>
        </p:sp>
        <p:sp>
          <p:nvSpPr>
            <p:cNvPr id="57" name="pl56"/>
            <p:cNvSpPr/>
            <p:nvPr/>
          </p:nvSpPr>
          <p:spPr>
            <a:xfrm>
              <a:off x="6008204" y="2263152"/>
              <a:ext cx="0" cy="2365178"/>
            </a:xfrm>
            <a:custGeom>
              <a:avLst/>
              <a:gdLst/>
              <a:ahLst/>
              <a:cxnLst/>
              <a:rect l="0" t="0" r="0" b="0"/>
              <a:pathLst>
                <a:path h="2365178">
                  <a:moveTo>
                    <a:pt x="0" y="0"/>
                  </a:moveTo>
                  <a:lnTo>
                    <a:pt x="0" y="2365178"/>
                  </a:lnTo>
                </a:path>
              </a:pathLst>
            </a:custGeom>
            <a:ln w="1355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7"/>
            <p:cNvSpPr/>
            <p:nvPr/>
          </p:nvSpPr>
          <p:spPr>
            <a:xfrm>
              <a:off x="5842504" y="1931258"/>
              <a:ext cx="331399" cy="666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AAAAAA">
                      <a:alpha val="100000"/>
                    </a:srgbClr>
                  </a:solidFill>
                  <a:latin typeface="Helvetica"/>
                  <a:cs typeface="Helvetica"/>
                </a:rPr>
                <a:t>Proceso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5852517" y="2023270"/>
              <a:ext cx="311373" cy="667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i="1">
                  <a:solidFill>
                    <a:srgbClr val="AAAAAA">
                      <a:alpha val="100000"/>
                    </a:srgbClr>
                  </a:solidFill>
                  <a:latin typeface="Helvetica"/>
                  <a:cs typeface="Helvetica"/>
                </a:rPr>
                <a:t>identico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text — Cómo codificar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Hojas de texto: respuesta abierta original.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Columna editable: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&lt;variable&gt;_recod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Escriba código que represente la respuesta.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Bloque auxiliar: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nuevo_codigo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+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nueva_etiqueta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Deje vacío si no requiere codificación.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integer — Cómo codificar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Similar a text: el valor original es un número.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Columna editable: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&lt;variable&gt;_recod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Asigne código de categoría.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Bloque auxiliar: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nuevo_codigo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+ </a:t>
            </a: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nueva_etiqueta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Si 2 variables comparten diccionario,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la lista se comparte automáticamente.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Errores comunes a evitar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✘ 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Editar la fila 1 (nombre técnico)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 Si se modifica, el adaptador no reconocerá la columna.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✘ 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Editar columnas de referencia (gris)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 Los valores originales son solo consulta.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✘ 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Usar código nuevo sin declarar etiqueta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 Todo código nuevo DEBE tener etiqueta en el bloque auxiliar.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✘ 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Declarar el mismo código con 2 etiquetas distintas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 El adaptador devolverá error si detecta inconsistencia.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✘ 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Usar valores distintos de 1, 0 o vacío en select_multiple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 Solo se aceptan estos tres valores.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Checklist antes de entregar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Verifique antes de enviar la plantilla completada: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Todas las columnas *_recod fueron revisadas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 (incluso si se dejan vacías intencionalmente)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Cada código nuevo tiene su etiqueta en el bloque auxiliar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No hay etiquetas duplicadas para un mismo código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Columnas nuevas en SM: patrón &lt;parent&gt;/&lt;cod&gt;_recod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Control / notas con observaciones donde corresponda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No se editaron filas 1/2 ni columnas de referencia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☐  Archivo guardado como .xlsx (no .xls ni .csv)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</p:spPr>
        <p:txBody>
          <a:bodyPr/>
          <a:lstStyle/>
          <a:p>
            <a:r>
              <a:t>Sección 3: Aplicación técnica en R</a:t>
            </a:r>
          </a:p>
        </p:txBody>
      </p:sp>
      <p:sp>
        <p:nvSpPr>
          <p:cNvPr id="3" name="Google Shape;66;p47"/>
          <p:cNvSpPr>
            <a:spLocks noGrp="1"/>
          </p:cNvSpPr>
          <p:nvPr>
            <p:ph/>
          </p:nvPr>
        </p:nvSpPr>
        <p:spPr>
          <a:xfrm>
            <a:off x="10088216" y="158826"/>
            <a:ext cx="1927827" cy="846037"/>
          </a:xfrm>
        </p:spPr>
        <p:txBody>
          <a:bodyPr/>
          <a:lstStyle/>
          <a:p>
            <a:r>
              <a:t>Con la plantilla de codificación completada, aplique cambios a datos e instrumento.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Flujo técnico en R — Aplicación y actualización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00061" y="1162878"/>
            <a:ext cx="9216287" cy="5068958"/>
            <a:chOff x="1400061" y="1162878"/>
            <a:chExt cx="9216287" cy="5068958"/>
          </a:xfrm>
        </p:grpSpPr>
        <p:sp>
          <p:nvSpPr>
            <p:cNvPr id="4" name="rc3"/>
            <p:cNvSpPr/>
            <p:nvPr/>
          </p:nvSpPr>
          <p:spPr>
            <a:xfrm>
              <a:off x="1400060" y="1162878"/>
              <a:ext cx="9216287" cy="5068958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1526586" y="1289403"/>
              <a:ext cx="8963236" cy="481590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2591069" y="1662451"/>
              <a:ext cx="956737" cy="143064"/>
            </a:xfrm>
            <a:custGeom>
              <a:avLst/>
              <a:gdLst/>
              <a:ahLst/>
              <a:cxnLst/>
              <a:rect l="0" t="0" r="0" b="0"/>
              <a:pathLst>
                <a:path w="956737" h="143064">
                  <a:moveTo>
                    <a:pt x="19512" y="143064"/>
                  </a:moveTo>
                  <a:lnTo>
                    <a:pt x="937224" y="143064"/>
                  </a:lnTo>
                  <a:lnTo>
                    <a:pt x="936439" y="143049"/>
                  </a:lnTo>
                  <a:lnTo>
                    <a:pt x="939576" y="142922"/>
                  </a:lnTo>
                  <a:lnTo>
                    <a:pt x="942653" y="142294"/>
                  </a:lnTo>
                  <a:lnTo>
                    <a:pt x="945589" y="141180"/>
                  </a:lnTo>
                  <a:lnTo>
                    <a:pt x="948309" y="139610"/>
                  </a:lnTo>
                  <a:lnTo>
                    <a:pt x="950741" y="137624"/>
                  </a:lnTo>
                  <a:lnTo>
                    <a:pt x="952824" y="135274"/>
                  </a:lnTo>
                  <a:lnTo>
                    <a:pt x="954502" y="132620"/>
                  </a:lnTo>
                  <a:lnTo>
                    <a:pt x="955733" y="129731"/>
                  </a:lnTo>
                  <a:lnTo>
                    <a:pt x="956484" y="126682"/>
                  </a:lnTo>
                  <a:lnTo>
                    <a:pt x="956737" y="123552"/>
                  </a:lnTo>
                  <a:lnTo>
                    <a:pt x="956737" y="19512"/>
                  </a:lnTo>
                  <a:lnTo>
                    <a:pt x="956484" y="16382"/>
                  </a:lnTo>
                  <a:lnTo>
                    <a:pt x="955733" y="13333"/>
                  </a:lnTo>
                  <a:lnTo>
                    <a:pt x="954502" y="10444"/>
                  </a:lnTo>
                  <a:lnTo>
                    <a:pt x="952824" y="7790"/>
                  </a:lnTo>
                  <a:lnTo>
                    <a:pt x="950741" y="5440"/>
                  </a:lnTo>
                  <a:lnTo>
                    <a:pt x="948309" y="3454"/>
                  </a:lnTo>
                  <a:lnTo>
                    <a:pt x="945589" y="1883"/>
                  </a:lnTo>
                  <a:lnTo>
                    <a:pt x="942653" y="770"/>
                  </a:lnTo>
                  <a:lnTo>
                    <a:pt x="939576" y="142"/>
                  </a:lnTo>
                  <a:lnTo>
                    <a:pt x="937224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552"/>
                  </a:lnTo>
                  <a:lnTo>
                    <a:pt x="63" y="121981"/>
                  </a:lnTo>
                  <a:lnTo>
                    <a:pt x="63" y="125122"/>
                  </a:lnTo>
                  <a:lnTo>
                    <a:pt x="567" y="128221"/>
                  </a:lnTo>
                  <a:lnTo>
                    <a:pt x="1561" y="131200"/>
                  </a:lnTo>
                  <a:lnTo>
                    <a:pt x="3020" y="133981"/>
                  </a:lnTo>
                  <a:lnTo>
                    <a:pt x="4907" y="136491"/>
                  </a:lnTo>
                  <a:lnTo>
                    <a:pt x="7172" y="138666"/>
                  </a:lnTo>
                  <a:lnTo>
                    <a:pt x="9756" y="140450"/>
                  </a:lnTo>
                  <a:lnTo>
                    <a:pt x="12593" y="141796"/>
                  </a:lnTo>
                  <a:lnTo>
                    <a:pt x="15609" y="142670"/>
                  </a:lnTo>
                  <a:lnTo>
                    <a:pt x="18727" y="143049"/>
                  </a:lnTo>
                  <a:close/>
                </a:path>
              </a:pathLst>
            </a:custGeom>
            <a:solidFill>
              <a:srgbClr val="E8F0FE">
                <a:alpha val="100000"/>
              </a:srgbClr>
            </a:solidFill>
            <a:ln w="6775" cap="rnd">
              <a:solidFill>
                <a:srgbClr val="1F38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x6"/>
            <p:cNvSpPr/>
            <p:nvPr/>
          </p:nvSpPr>
          <p:spPr>
            <a:xfrm>
              <a:off x="2623591" y="1669988"/>
              <a:ext cx="891694" cy="103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1F3864">
                      <a:alpha val="100000"/>
                    </a:srgbClr>
                  </a:solidFill>
                  <a:latin typeface="Helvetica"/>
                  <a:cs typeface="Helvetica"/>
                </a:rPr>
                <a:t>FASE 1: Preparar</a:t>
              </a:r>
            </a:p>
          </p:txBody>
        </p:sp>
        <p:sp>
          <p:nvSpPr>
            <p:cNvPr id="8" name="rc7"/>
            <p:cNvSpPr/>
            <p:nvPr/>
          </p:nvSpPr>
          <p:spPr>
            <a:xfrm>
              <a:off x="2134376" y="2004793"/>
              <a:ext cx="1870123" cy="361080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x8"/>
            <p:cNvSpPr/>
            <p:nvPr/>
          </p:nvSpPr>
          <p:spPr>
            <a:xfrm>
              <a:off x="2510778" y="2080628"/>
              <a:ext cx="1117319" cy="876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leer_instrumento_xlsform()</a:t>
              </a:r>
            </a:p>
          </p:txBody>
        </p:sp>
        <p:sp>
          <p:nvSpPr>
            <p:cNvPr id="10" name="tx9"/>
            <p:cNvSpPr/>
            <p:nvPr/>
          </p:nvSpPr>
          <p:spPr>
            <a:xfrm>
              <a:off x="2714415" y="2179756"/>
              <a:ext cx="710045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Cargar XLSForm</a:t>
              </a:r>
            </a:p>
          </p:txBody>
        </p:sp>
        <p:sp>
          <p:nvSpPr>
            <p:cNvPr id="11" name="rc10"/>
            <p:cNvSpPr/>
            <p:nvPr/>
          </p:nvSpPr>
          <p:spPr>
            <a:xfrm>
              <a:off x="4138080" y="2004793"/>
              <a:ext cx="1870123" cy="361080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x11"/>
            <p:cNvSpPr/>
            <p:nvPr/>
          </p:nvSpPr>
          <p:spPr>
            <a:xfrm>
              <a:off x="4822484" y="2080628"/>
              <a:ext cx="501316" cy="876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leer_datos()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4647541" y="2179756"/>
              <a:ext cx="851201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Cargar datos crudos</a:t>
              </a:r>
            </a:p>
          </p:txBody>
        </p:sp>
        <p:sp>
          <p:nvSpPr>
            <p:cNvPr id="14" name="rc13"/>
            <p:cNvSpPr/>
            <p:nvPr/>
          </p:nvSpPr>
          <p:spPr>
            <a:xfrm>
              <a:off x="6141784" y="2004793"/>
              <a:ext cx="1870123" cy="361080"/>
            </a:xfrm>
            <a:prstGeom prst="rect">
              <a:avLst/>
            </a:prstGeom>
            <a:solidFill>
              <a:srgbClr val="E8F0FE">
                <a:alpha val="100000"/>
              </a:srgbClr>
            </a:solidFill>
            <a:ln w="21681" cap="flat">
              <a:solidFill>
                <a:srgbClr val="4472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x14"/>
            <p:cNvSpPr/>
            <p:nvPr/>
          </p:nvSpPr>
          <p:spPr>
            <a:xfrm>
              <a:off x="6573029" y="2080628"/>
              <a:ext cx="1007633" cy="876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leer_familias_clasificar()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6612206" y="2179756"/>
              <a:ext cx="929279" cy="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Cargar FAMILIAS.xlsx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3069438" y="2365873"/>
              <a:ext cx="0" cy="225675"/>
            </a:xfrm>
            <a:custGeom>
              <a:avLst/>
              <a:gdLst/>
              <a:ahLst/>
              <a:cxnLst/>
              <a:rect l="0" t="0" r="0" b="0"/>
              <a:pathLst>
                <a:path h="225675">
                  <a:moveTo>
                    <a:pt x="0" y="0"/>
                  </a:moveTo>
                  <a:lnTo>
                    <a:pt x="0" y="225675"/>
                  </a:lnTo>
                </a:path>
              </a:pathLst>
            </a:custGeom>
            <a:ln w="1355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5073142" y="2365873"/>
              <a:ext cx="0" cy="225675"/>
            </a:xfrm>
            <a:custGeom>
              <a:avLst/>
              <a:gdLst/>
              <a:ahLst/>
              <a:cxnLst/>
              <a:rect l="0" t="0" r="0" b="0"/>
              <a:pathLst>
                <a:path h="225675">
                  <a:moveTo>
                    <a:pt x="0" y="0"/>
                  </a:moveTo>
                  <a:lnTo>
                    <a:pt x="0" y="225675"/>
                  </a:lnTo>
                </a:path>
              </a:pathLst>
            </a:custGeom>
            <a:ln w="1355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7076846" y="2365873"/>
              <a:ext cx="0" cy="225675"/>
            </a:xfrm>
            <a:custGeom>
              <a:avLst/>
              <a:gdLst/>
              <a:ahLst/>
              <a:cxnLst/>
              <a:rect l="0" t="0" r="0" b="0"/>
              <a:pathLst>
                <a:path h="225675">
                  <a:moveTo>
                    <a:pt x="0" y="0"/>
                  </a:moveTo>
                  <a:lnTo>
                    <a:pt x="0" y="225675"/>
                  </a:lnTo>
                </a:path>
              </a:pathLst>
            </a:custGeom>
            <a:ln w="1355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3069438" y="2591548"/>
              <a:ext cx="4007408" cy="0"/>
            </a:xfrm>
            <a:custGeom>
              <a:avLst/>
              <a:gdLst/>
              <a:ahLst/>
              <a:cxnLst/>
              <a:rect l="0" t="0" r="0" b="0"/>
              <a:pathLst>
                <a:path w="4007408">
                  <a:moveTo>
                    <a:pt x="0" y="0"/>
                  </a:moveTo>
                  <a:lnTo>
                    <a:pt x="4007408" y="0"/>
                  </a:lnTo>
                </a:path>
              </a:pathLst>
            </a:custGeom>
            <a:ln w="1355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5073142" y="2591548"/>
              <a:ext cx="0" cy="248242"/>
            </a:xfrm>
            <a:custGeom>
              <a:avLst/>
              <a:gdLst/>
              <a:ahLst/>
              <a:cxnLst/>
              <a:rect l="0" t="0" r="0" b="0"/>
              <a:pathLst>
                <a:path h="248242">
                  <a:moveTo>
                    <a:pt x="0" y="0"/>
                  </a:moveTo>
                  <a:lnTo>
                    <a:pt x="0" y="24824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1"/>
            <p:cNvSpPr/>
            <p:nvPr/>
          </p:nvSpPr>
          <p:spPr>
            <a:xfrm>
              <a:off x="5046142" y="2793026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2"/>
            <p:cNvSpPr/>
            <p:nvPr/>
          </p:nvSpPr>
          <p:spPr>
            <a:xfrm>
              <a:off x="4390005" y="2745691"/>
              <a:ext cx="1366273" cy="143064"/>
            </a:xfrm>
            <a:custGeom>
              <a:avLst/>
              <a:gdLst/>
              <a:ahLst/>
              <a:cxnLst/>
              <a:rect l="0" t="0" r="0" b="0"/>
              <a:pathLst>
                <a:path w="1366273" h="143064">
                  <a:moveTo>
                    <a:pt x="19512" y="143064"/>
                  </a:moveTo>
                  <a:lnTo>
                    <a:pt x="1346760" y="143064"/>
                  </a:lnTo>
                  <a:lnTo>
                    <a:pt x="1345974" y="143049"/>
                  </a:lnTo>
                  <a:lnTo>
                    <a:pt x="1349112" y="142922"/>
                  </a:lnTo>
                  <a:lnTo>
                    <a:pt x="1352189" y="142294"/>
                  </a:lnTo>
                  <a:lnTo>
                    <a:pt x="1355125" y="141180"/>
                  </a:lnTo>
                  <a:lnTo>
                    <a:pt x="1357845" y="139610"/>
                  </a:lnTo>
                  <a:lnTo>
                    <a:pt x="1360277" y="137624"/>
                  </a:lnTo>
                  <a:lnTo>
                    <a:pt x="1362360" y="135274"/>
                  </a:lnTo>
                  <a:lnTo>
                    <a:pt x="1364038" y="132620"/>
                  </a:lnTo>
                  <a:lnTo>
                    <a:pt x="1365269" y="129731"/>
                  </a:lnTo>
                  <a:lnTo>
                    <a:pt x="1366020" y="126682"/>
                  </a:lnTo>
                  <a:lnTo>
                    <a:pt x="1366273" y="123552"/>
                  </a:lnTo>
                  <a:lnTo>
                    <a:pt x="1366273" y="19512"/>
                  </a:lnTo>
                  <a:lnTo>
                    <a:pt x="1366020" y="16382"/>
                  </a:lnTo>
                  <a:lnTo>
                    <a:pt x="1365269" y="13333"/>
                  </a:lnTo>
                  <a:lnTo>
                    <a:pt x="1364038" y="10444"/>
                  </a:lnTo>
                  <a:lnTo>
                    <a:pt x="1362360" y="7790"/>
                  </a:lnTo>
                  <a:lnTo>
                    <a:pt x="1360277" y="5440"/>
                  </a:lnTo>
                  <a:lnTo>
                    <a:pt x="1357845" y="3454"/>
                  </a:lnTo>
                  <a:lnTo>
                    <a:pt x="1355125" y="1883"/>
                  </a:lnTo>
                  <a:lnTo>
                    <a:pt x="1352189" y="770"/>
                  </a:lnTo>
                  <a:lnTo>
                    <a:pt x="1349112" y="142"/>
                  </a:lnTo>
                  <a:lnTo>
                    <a:pt x="1346760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552"/>
                  </a:lnTo>
                  <a:lnTo>
                    <a:pt x="63" y="121981"/>
                  </a:lnTo>
                  <a:lnTo>
                    <a:pt x="63" y="125122"/>
                  </a:lnTo>
                  <a:lnTo>
                    <a:pt x="567" y="128221"/>
                  </a:lnTo>
                  <a:lnTo>
                    <a:pt x="1561" y="131200"/>
                  </a:lnTo>
                  <a:lnTo>
                    <a:pt x="3020" y="133981"/>
                  </a:lnTo>
                  <a:lnTo>
                    <a:pt x="4907" y="136491"/>
                  </a:lnTo>
                  <a:lnTo>
                    <a:pt x="7172" y="138666"/>
                  </a:lnTo>
                  <a:lnTo>
                    <a:pt x="9756" y="140450"/>
                  </a:lnTo>
                  <a:lnTo>
                    <a:pt x="12593" y="141796"/>
                  </a:lnTo>
                  <a:lnTo>
                    <a:pt x="15609" y="142670"/>
                  </a:lnTo>
                  <a:lnTo>
                    <a:pt x="18727" y="143049"/>
                  </a:lnTo>
                  <a:close/>
                </a:path>
              </a:pathLst>
            </a:custGeom>
            <a:solidFill>
              <a:srgbClr val="FFF2CC">
                <a:alpha val="100000"/>
              </a:srgbClr>
            </a:solidFill>
            <a:ln w="6775" cap="rnd">
              <a:solidFill>
                <a:srgbClr val="BF8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4422527" y="2753229"/>
              <a:ext cx="1301230" cy="103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BF8F00">
                      <a:alpha val="100000"/>
                    </a:srgbClr>
                  </a:solidFill>
                  <a:latin typeface="Helvetica"/>
                  <a:cs typeface="Helvetica"/>
                </a:rPr>
                <a:t>FASE 2: Generar plantilla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3570364" y="3042899"/>
              <a:ext cx="3005556" cy="36108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x25"/>
            <p:cNvSpPr/>
            <p:nvPr/>
          </p:nvSpPr>
          <p:spPr>
            <a:xfrm>
              <a:off x="4062687" y="3118321"/>
              <a:ext cx="2020909" cy="880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construir_plantilla_desde_familias(inst, dat, split)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532717" y="3218825"/>
              <a:ext cx="1080849" cy="890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Crea estructura multi-hoja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5073142" y="3403979"/>
              <a:ext cx="0" cy="203107"/>
            </a:xfrm>
            <a:custGeom>
              <a:avLst/>
              <a:gdLst/>
              <a:ahLst/>
              <a:cxnLst/>
              <a:rect l="0" t="0" r="0" b="0"/>
              <a:pathLst>
                <a:path h="203107">
                  <a:moveTo>
                    <a:pt x="0" y="0"/>
                  </a:moveTo>
                  <a:lnTo>
                    <a:pt x="0" y="203107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8"/>
            <p:cNvSpPr/>
            <p:nvPr/>
          </p:nvSpPr>
          <p:spPr>
            <a:xfrm>
              <a:off x="5046142" y="3560321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29"/>
            <p:cNvSpPr/>
            <p:nvPr/>
          </p:nvSpPr>
          <p:spPr>
            <a:xfrm>
              <a:off x="3570364" y="3629654"/>
              <a:ext cx="3005556" cy="361080"/>
            </a:xfrm>
            <a:prstGeom prst="rect">
              <a:avLst/>
            </a:prstGeom>
            <a:solidFill>
              <a:srgbClr val="FFF2CC">
                <a:alpha val="100000"/>
              </a:srgbClr>
            </a:solidFill>
            <a:ln w="21681" cap="flat">
              <a:solidFill>
                <a:srgbClr val="BF8F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x30"/>
            <p:cNvSpPr/>
            <p:nvPr/>
          </p:nvSpPr>
          <p:spPr>
            <a:xfrm>
              <a:off x="4028671" y="3705076"/>
              <a:ext cx="2088941" cy="880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exportar_plantilla_codificacion_xlsx(plantilla, path)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449134" y="3806130"/>
              <a:ext cx="1248016" cy="884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9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Exporta con formato y colores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6575920" y="3810194"/>
              <a:ext cx="968456" cy="0"/>
            </a:xfrm>
            <a:custGeom>
              <a:avLst/>
              <a:gdLst/>
              <a:ahLst/>
              <a:cxnLst/>
              <a:rect l="0" t="0" r="0" b="0"/>
              <a:pathLst>
                <a:path w="968456">
                  <a:moveTo>
                    <a:pt x="0" y="0"/>
                  </a:moveTo>
                  <a:lnTo>
                    <a:pt x="968456" y="0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3"/>
            <p:cNvSpPr/>
            <p:nvPr/>
          </p:nvSpPr>
          <p:spPr>
            <a:xfrm>
              <a:off x="7497612" y="3783194"/>
              <a:ext cx="46765" cy="53999"/>
            </a:xfrm>
            <a:custGeom>
              <a:avLst/>
              <a:gdLst/>
              <a:ahLst/>
              <a:cxnLst/>
              <a:rect l="0" t="0" r="0" b="0"/>
              <a:pathLst>
                <a:path w="46765" h="53999">
                  <a:moveTo>
                    <a:pt x="0" y="53999"/>
                  </a:moveTo>
                  <a:lnTo>
                    <a:pt x="46765" y="2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4"/>
            <p:cNvSpPr/>
            <p:nvPr/>
          </p:nvSpPr>
          <p:spPr>
            <a:xfrm>
              <a:off x="7677957" y="3629654"/>
              <a:ext cx="2137284" cy="361080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x35"/>
            <p:cNvSpPr/>
            <p:nvPr/>
          </p:nvSpPr>
          <p:spPr>
            <a:xfrm>
              <a:off x="8465371" y="3716875"/>
              <a:ext cx="562456" cy="750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Enviar .xlsx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8417697" y="3825802"/>
              <a:ext cx="657805" cy="754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al codificador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8746600" y="3990734"/>
              <a:ext cx="0" cy="293377"/>
            </a:xfrm>
            <a:custGeom>
              <a:avLst/>
              <a:gdLst/>
              <a:ahLst/>
              <a:cxnLst/>
              <a:rect l="0" t="0" r="0" b="0"/>
              <a:pathLst>
                <a:path h="293377">
                  <a:moveTo>
                    <a:pt x="0" y="0"/>
                  </a:moveTo>
                  <a:lnTo>
                    <a:pt x="0" y="293377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38"/>
            <p:cNvSpPr/>
            <p:nvPr/>
          </p:nvSpPr>
          <p:spPr>
            <a:xfrm>
              <a:off x="8719600" y="4237346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39"/>
            <p:cNvSpPr/>
            <p:nvPr/>
          </p:nvSpPr>
          <p:spPr>
            <a:xfrm>
              <a:off x="7677957" y="4306679"/>
              <a:ext cx="2137284" cy="361080"/>
            </a:xfrm>
            <a:prstGeom prst="rect">
              <a:avLst/>
            </a:prstGeom>
            <a:solidFill>
              <a:srgbClr val="DFF5DF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x40"/>
            <p:cNvSpPr/>
            <p:nvPr/>
          </p:nvSpPr>
          <p:spPr>
            <a:xfrm>
              <a:off x="8369899" y="4374534"/>
              <a:ext cx="753400" cy="944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Recibir plantilla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465470" y="4484251"/>
              <a:ext cx="562259" cy="940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b="1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completada</a:t>
              </a:r>
            </a:p>
          </p:txBody>
        </p:sp>
        <p:sp>
          <p:nvSpPr>
            <p:cNvPr id="43" name="pl42"/>
            <p:cNvSpPr/>
            <p:nvPr/>
          </p:nvSpPr>
          <p:spPr>
            <a:xfrm>
              <a:off x="6742895" y="4667759"/>
              <a:ext cx="2003704" cy="157972"/>
            </a:xfrm>
            <a:custGeom>
              <a:avLst/>
              <a:gdLst/>
              <a:ahLst/>
              <a:cxnLst/>
              <a:rect l="0" t="0" r="0" b="0"/>
              <a:pathLst>
                <a:path w="2003704" h="157972">
                  <a:moveTo>
                    <a:pt x="2003704" y="0"/>
                  </a:moveTo>
                  <a:lnTo>
                    <a:pt x="0" y="157972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g43"/>
            <p:cNvSpPr/>
            <p:nvPr/>
          </p:nvSpPr>
          <p:spPr>
            <a:xfrm>
              <a:off x="6742895" y="4795140"/>
              <a:ext cx="48742" cy="53832"/>
            </a:xfrm>
            <a:custGeom>
              <a:avLst/>
              <a:gdLst/>
              <a:ahLst/>
              <a:cxnLst/>
              <a:rect l="0" t="0" r="0" b="0"/>
              <a:pathLst>
                <a:path w="48742" h="53832">
                  <a:moveTo>
                    <a:pt x="44498" y="0"/>
                  </a:moveTo>
                  <a:lnTo>
                    <a:pt x="0" y="30592"/>
                  </a:lnTo>
                  <a:lnTo>
                    <a:pt x="48742" y="53832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4"/>
            <p:cNvSpPr/>
            <p:nvPr/>
          </p:nvSpPr>
          <p:spPr>
            <a:xfrm>
              <a:off x="4633996" y="4415687"/>
              <a:ext cx="878292" cy="143064"/>
            </a:xfrm>
            <a:custGeom>
              <a:avLst/>
              <a:gdLst/>
              <a:ahLst/>
              <a:cxnLst/>
              <a:rect l="0" t="0" r="0" b="0"/>
              <a:pathLst>
                <a:path w="878292" h="143064">
                  <a:moveTo>
                    <a:pt x="19512" y="143064"/>
                  </a:moveTo>
                  <a:lnTo>
                    <a:pt x="858779" y="143064"/>
                  </a:lnTo>
                  <a:lnTo>
                    <a:pt x="857993" y="143049"/>
                  </a:lnTo>
                  <a:lnTo>
                    <a:pt x="861131" y="142922"/>
                  </a:lnTo>
                  <a:lnTo>
                    <a:pt x="864208" y="142294"/>
                  </a:lnTo>
                  <a:lnTo>
                    <a:pt x="867144" y="141180"/>
                  </a:lnTo>
                  <a:lnTo>
                    <a:pt x="869863" y="139610"/>
                  </a:lnTo>
                  <a:lnTo>
                    <a:pt x="872296" y="137624"/>
                  </a:lnTo>
                  <a:lnTo>
                    <a:pt x="874378" y="135274"/>
                  </a:lnTo>
                  <a:lnTo>
                    <a:pt x="876057" y="132620"/>
                  </a:lnTo>
                  <a:lnTo>
                    <a:pt x="877288" y="129731"/>
                  </a:lnTo>
                  <a:lnTo>
                    <a:pt x="878039" y="126682"/>
                  </a:lnTo>
                  <a:lnTo>
                    <a:pt x="878292" y="123552"/>
                  </a:lnTo>
                  <a:lnTo>
                    <a:pt x="878292" y="19512"/>
                  </a:lnTo>
                  <a:lnTo>
                    <a:pt x="878039" y="16382"/>
                  </a:lnTo>
                  <a:lnTo>
                    <a:pt x="877288" y="13333"/>
                  </a:lnTo>
                  <a:lnTo>
                    <a:pt x="876057" y="10444"/>
                  </a:lnTo>
                  <a:lnTo>
                    <a:pt x="874378" y="7790"/>
                  </a:lnTo>
                  <a:lnTo>
                    <a:pt x="872296" y="5440"/>
                  </a:lnTo>
                  <a:lnTo>
                    <a:pt x="869863" y="3454"/>
                  </a:lnTo>
                  <a:lnTo>
                    <a:pt x="867144" y="1883"/>
                  </a:lnTo>
                  <a:lnTo>
                    <a:pt x="864208" y="770"/>
                  </a:lnTo>
                  <a:lnTo>
                    <a:pt x="861131" y="142"/>
                  </a:lnTo>
                  <a:lnTo>
                    <a:pt x="858779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552"/>
                  </a:lnTo>
                  <a:lnTo>
                    <a:pt x="63" y="121981"/>
                  </a:lnTo>
                  <a:lnTo>
                    <a:pt x="63" y="125122"/>
                  </a:lnTo>
                  <a:lnTo>
                    <a:pt x="567" y="128221"/>
                  </a:lnTo>
                  <a:lnTo>
                    <a:pt x="1561" y="131200"/>
                  </a:lnTo>
                  <a:lnTo>
                    <a:pt x="3020" y="133981"/>
                  </a:lnTo>
                  <a:lnTo>
                    <a:pt x="4907" y="136491"/>
                  </a:lnTo>
                  <a:lnTo>
                    <a:pt x="7172" y="138666"/>
                  </a:lnTo>
                  <a:lnTo>
                    <a:pt x="9756" y="140450"/>
                  </a:lnTo>
                  <a:lnTo>
                    <a:pt x="12593" y="141796"/>
                  </a:lnTo>
                  <a:lnTo>
                    <a:pt x="15609" y="142670"/>
                  </a:lnTo>
                  <a:lnTo>
                    <a:pt x="18727" y="143049"/>
                  </a:lnTo>
                  <a:close/>
                </a:path>
              </a:pathLst>
            </a:custGeom>
            <a:solidFill>
              <a:srgbClr val="DCEBFF">
                <a:alpha val="100000"/>
              </a:srgbClr>
            </a:solidFill>
            <a:ln w="6775" cap="rnd">
              <a:solidFill>
                <a:srgbClr val="1F4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tx45"/>
            <p:cNvSpPr/>
            <p:nvPr/>
          </p:nvSpPr>
          <p:spPr>
            <a:xfrm>
              <a:off x="4666517" y="4423224"/>
              <a:ext cx="813249" cy="103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1F4E79">
                      <a:alpha val="100000"/>
                    </a:srgbClr>
                  </a:solidFill>
                  <a:latin typeface="Helvetica"/>
                  <a:cs typeface="Helvetica"/>
                </a:rPr>
                <a:t>FASE 3: Aplicar</a:t>
              </a:r>
            </a:p>
          </p:txBody>
        </p:sp>
        <p:sp>
          <p:nvSpPr>
            <p:cNvPr id="47" name="rc46"/>
            <p:cNvSpPr/>
            <p:nvPr/>
          </p:nvSpPr>
          <p:spPr>
            <a:xfrm>
              <a:off x="3570364" y="4848300"/>
              <a:ext cx="3005556" cy="361080"/>
            </a:xfrm>
            <a:prstGeom prst="rect">
              <a:avLst/>
            </a:prstGeom>
            <a:solidFill>
              <a:srgbClr val="DCEBFF">
                <a:alpha val="100000"/>
              </a:srgbClr>
            </a:solidFill>
            <a:ln w="21681" cap="flat">
              <a:solidFill>
                <a:srgbClr val="1F4E79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x47"/>
            <p:cNvSpPr/>
            <p:nvPr/>
          </p:nvSpPr>
          <p:spPr>
            <a:xfrm>
              <a:off x="3969020" y="4931808"/>
              <a:ext cx="2208243" cy="813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ppra_adaptar_data(path_inst, path_dat, path_plantilla, ...)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403043" y="5033515"/>
              <a:ext cx="1340199" cy="732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Inserta columnas *_recod en datos</a:t>
              </a:r>
            </a:p>
          </p:txBody>
        </p:sp>
        <p:sp>
          <p:nvSpPr>
            <p:cNvPr id="50" name="pl49"/>
            <p:cNvSpPr/>
            <p:nvPr/>
          </p:nvSpPr>
          <p:spPr>
            <a:xfrm>
              <a:off x="5073142" y="5209380"/>
              <a:ext cx="0" cy="203107"/>
            </a:xfrm>
            <a:custGeom>
              <a:avLst/>
              <a:gdLst/>
              <a:ahLst/>
              <a:cxnLst/>
              <a:rect l="0" t="0" r="0" b="0"/>
              <a:pathLst>
                <a:path h="203107">
                  <a:moveTo>
                    <a:pt x="0" y="0"/>
                  </a:moveTo>
                  <a:lnTo>
                    <a:pt x="0" y="203107"/>
                  </a:lnTo>
                </a:path>
              </a:pathLst>
            </a:custGeom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g50"/>
            <p:cNvSpPr/>
            <p:nvPr/>
          </p:nvSpPr>
          <p:spPr>
            <a:xfrm>
              <a:off x="5046142" y="5365722"/>
              <a:ext cx="54000" cy="46765"/>
            </a:xfrm>
            <a:custGeom>
              <a:avLst/>
              <a:gdLst/>
              <a:ahLst/>
              <a:cxnLst/>
              <a:rect l="0" t="0" r="0" b="0"/>
              <a:pathLst>
                <a:path w="54000" h="46765">
                  <a:moveTo>
                    <a:pt x="0" y="0"/>
                  </a:moveTo>
                  <a:lnTo>
                    <a:pt x="27000" y="46765"/>
                  </a:lnTo>
                  <a:lnTo>
                    <a:pt x="54000" y="0"/>
                  </a:lnTo>
                  <a:close/>
                </a:path>
              </a:pathLst>
            </a:custGeom>
            <a:solidFill>
              <a:srgbClr val="555555">
                <a:alpha val="100000"/>
              </a:srgbClr>
            </a:solidFill>
            <a:ln w="16260" cap="flat">
              <a:solidFill>
                <a:srgbClr val="5555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1"/>
            <p:cNvSpPr/>
            <p:nvPr/>
          </p:nvSpPr>
          <p:spPr>
            <a:xfrm>
              <a:off x="3570364" y="5435055"/>
              <a:ext cx="3005556" cy="361080"/>
            </a:xfrm>
            <a:prstGeom prst="rect">
              <a:avLst/>
            </a:prstGeom>
            <a:solidFill>
              <a:srgbClr val="E6D9F2">
                <a:alpha val="100000"/>
              </a:srgbClr>
            </a:solidFill>
            <a:ln w="21681" cap="flat">
              <a:solidFill>
                <a:srgbClr val="5B2C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tx52"/>
            <p:cNvSpPr/>
            <p:nvPr/>
          </p:nvSpPr>
          <p:spPr>
            <a:xfrm>
              <a:off x="3877426" y="5518563"/>
              <a:ext cx="2391431" cy="813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ppra_adaptar_instrumento(path_inst, path_data_adaptada, ...)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4295908" y="5611039"/>
              <a:ext cx="1554468" cy="8248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2">
                  <a:solidFill>
                    <a:srgbClr val="333333">
                      <a:alpha val="100000"/>
                    </a:srgbClr>
                  </a:solidFill>
                  <a:latin typeface="Helvetica"/>
                  <a:cs typeface="Helvetica"/>
                </a:rPr>
                <a:t>Actualiza survey + choices del XLSForm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Fase 3a: Aplicar codificación a datos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ppra_adaptar_data()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Argumentos principales: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path_instrumento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XLSForm original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path_datos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datos crudos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path_plantilla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plantilla completada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sm_vars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select_multiple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so_parent_vars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SO padre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so_child_vars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SO hijo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int_vars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integer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2E7D32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Resultado: *_recod junto al parent.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Fase 3b: Adaptar el instrumento</a:t>
            </a:r>
          </a:p>
        </p:txBody>
      </p:sp>
      <p:pic>
        <p:nvPicPr>
          <p:cNvPr id="3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317501" y="1103243"/>
            <a:ext cx="5584687" cy="5128593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ppra_adaptar_instrumento()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Actualiza el XLSForm: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Agrega preguntas *_recod al survey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Agrega códigos al choices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Colorea por tipo: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 SM = verde, SO = azul, INT = morado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choices_order: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original_first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original primero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by_first_seen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aparición en datos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alphabetical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— alfabético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t>Resultado: datos adaptados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El archivo de salida preserva: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Todas las hojas originales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Todas las columnas originales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• *_recod insertadas al lado del parent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Colores en el output: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Verde: columnas SM recodificadas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Azul: columnas SO recodificadas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Morado: columnas INT recodificadas</a:t>
            </a:r>
          </a:p>
        </p:txBody>
      </p:sp>
      <p:pic>
        <p:nvPicPr>
          <p:cNvPr id="4" name="Picture Placeholder 7"/>
          <p:cNvPicPr>
            <a:picLocks noGrp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6173304" y="1088800"/>
            <a:ext cx="5584687" cy="512859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Troubleshooting — Errores comunes en R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Error: etiqueta faltante para código nuevo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Codificador usó código sin declarar en bloque auxiliar.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Solución: completar nuevo_codigo + nueva_etiqueta.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Error: códigos duplicados con etiquetas distintas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Mismo código con 2+ etiquetas en bloque auxiliar.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Solución: unificar a una sola etiqueta.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Error: columna no encontrada en la hoja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Variable en sm_vars/so_* sin hoja en plantilla.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Solución: verificar nombre exacto.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Error: fila 1 modificada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Codificador alteró nombres técnicos. Corregir o regenerar.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t>Flujo completo — Resumen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Paso a paso: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333333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1.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Preparar FAMILIAS.xlsx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Variables, tipos y relaciones parent-child.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2.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Generar plantilla de codificación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 leer_familias → construir_plantilla → exportar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3.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Enviar plantilla al codificador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Llena *_recod y declara nuevas categorías (no necesita R).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666666">
                  <a:alpha val="100000"/>
                </a:srgbClr>
              </a:solidFill>
              <a:latin typeface="Calibri"/>
              <a:cs typeface="Calibri"/>
              <a:sym typeface="Calibri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4.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Aplicar codificación a los datos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 ppra_adaptar_data() → datos con *_recod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5.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Adaptar el instrumento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strike="noStrike" cap="none">
                <a:solidFill>
                  <a:srgbClr val="1B4332">
                    <a:alpha val="100000"/>
                  </a:srgbClr>
                </a:solidFill>
                <a:latin typeface="Courier New"/>
                <a:cs typeface="Courier New"/>
                <a:sym typeface="Courier New"/>
              </a:rPr>
              <a:t>   ppra_adaptar_instrumento() → XLSForm actualizado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B4332">
                  <a:alpha val="100000"/>
                </a:srgbClr>
              </a:solidFill>
              <a:latin typeface="Courier New"/>
              <a:cs typeface="Courier New"/>
              <a:sym typeface="Courier New"/>
            </a:endParaRP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6. </a:t>
            </a:r>
            <a:r>
              <a:rPr sz="1400" b="0" i="0" u="none" strike="noStrike" cap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Continuar con análisis</a:t>
            </a:r>
          </a:p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sym typeface="Calibri"/>
              </a:rPr>
              <a:t>   Datos e instrumento alimentan reportes, dashboards, SPSS...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0206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3072</Words>
  <Application>Microsoft Macintosh PowerPoint</Application>
  <PresentationFormat>Widescreen</PresentationFormat>
  <Paragraphs>597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Arial</vt:lpstr>
      <vt:lpstr>Calibri</vt:lpstr>
      <vt:lpstr>Courier New</vt:lpstr>
      <vt:lpstr>Helvetica</vt:lpstr>
      <vt:lpstr>Office Theme</vt:lpstr>
      <vt:lpstr>Manual de Codificación de Preguntas Abiertas</vt:lpstr>
      <vt:lpstr>Contenido del manual</vt:lpstr>
      <vt:lpstr>Flujo general de codificación</vt:lpstr>
      <vt:lpstr>Lógica general de implementación (sin código literal)</vt:lpstr>
      <vt:lpstr>Sección 1: Configuración FAMILIAS y construcción de plantilla</vt:lpstr>
      <vt:lpstr>Paso 1: Elaborar plantilla FAMILIAS</vt:lpstr>
      <vt:lpstr>1.1 Manipulación de la declaración FAMILIAS</vt:lpstr>
      <vt:lpstr>Ciclo de manipulación de FAMILIAS</vt:lpstr>
      <vt:lpstr>Anatomía operativa de FAMILIAS</vt:lpstr>
      <vt:lpstr>Edición operativa de FAMILIAS (ejemplo)</vt:lpstr>
      <vt:lpstr>Paso 3: Leer FAMILIAS en R y construir plantilla de codificación</vt:lpstr>
      <vt:lpstr>Sección 2: Guía para Codificadores</vt:lpstr>
      <vt:lpstr>Hoja NAVEGACIÓN</vt:lpstr>
      <vt:lpstr>Hoja INSTRUCCIONES</vt:lpstr>
      <vt:lpstr>Mapa de zonas de cada hoja</vt:lpstr>
      <vt:lpstr>Estructura general de cada hoja (ejemplo real)</vt:lpstr>
      <vt:lpstr>Fila 1 (técnica) vs Fila 2 (etiquetas)</vt:lpstr>
      <vt:lpstr>Zonas de color en cada hoja</vt:lpstr>
      <vt:lpstr>¿Qué tipo de variable estoy codificando?</vt:lpstr>
      <vt:lpstr>Tipo: select_multiple</vt:lpstr>
      <vt:lpstr>select_multiple — Proceso paso a paso</vt:lpstr>
      <vt:lpstr>select_multiple — Anatomía de columnas</vt:lpstr>
      <vt:lpstr>select_multiple — Vista general</vt:lpstr>
      <vt:lpstr>select_multiple — Agregar opción nueva</vt:lpstr>
      <vt:lpstr>select_multiple — Antes y después</vt:lpstr>
      <vt:lpstr>Tipo: select_one</vt:lpstr>
      <vt:lpstr>select_one — Modo padre vs modo hijo</vt:lpstr>
      <vt:lpstr>select_one (padre) — Vista general</vt:lpstr>
      <vt:lpstr>Bloque auxiliar — Cómo declarar categorías nuevas</vt:lpstr>
      <vt:lpstr>select_one — Bloque auxiliar (ejemplo real)</vt:lpstr>
      <vt:lpstr>select_one (hijo) — Texto asociado</vt:lpstr>
      <vt:lpstr>Tipos: text e integer</vt:lpstr>
      <vt:lpstr>text e integer — Proceso comparado</vt:lpstr>
      <vt:lpstr>text — Cómo codificar</vt:lpstr>
      <vt:lpstr>integer — Cómo codificar</vt:lpstr>
      <vt:lpstr>Errores comunes a evitar</vt:lpstr>
      <vt:lpstr>Checklist antes de entregar</vt:lpstr>
      <vt:lpstr>Sección 3: Aplicación técnica en R</vt:lpstr>
      <vt:lpstr>Flujo técnico en R — Aplicación y actualización</vt:lpstr>
      <vt:lpstr>Fase 3a: Aplicar codificación a datos</vt:lpstr>
      <vt:lpstr>Fase 3b: Adaptar el instrumento</vt:lpstr>
      <vt:lpstr>Resultado: datos adaptados</vt:lpstr>
      <vt:lpstr>Troubleshooting — Errores comunes en R</vt:lpstr>
      <vt:lpstr>Flujo completo — Resumen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67</cp:revision>
  <dcterms:created xsi:type="dcterms:W3CDTF">2025-07-16T05:29:30Z</dcterms:created>
  <dcterms:modified xsi:type="dcterms:W3CDTF">2026-03-26T21:22:03Z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